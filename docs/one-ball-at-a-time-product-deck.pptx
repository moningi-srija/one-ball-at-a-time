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f5ce374e604f42" /><Relationship Type="http://schemas.openxmlformats.org/officeDocument/2006/relationships/extended-properties" Target="/docProps/app.xml" Id="R4f79e507857f4fdf" /><Relationship Type="http://schemas.openxmlformats.org/officeDocument/2006/relationships/officeDocument" Target="/ppt/presentation.xml" Id="R77942e443c3944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a820e111824a7f"/>
  </p:sldMasterIdLst>
  <p:notesMasterIdLst>
    <p:notesMasterId xmlns:r="http://schemas.openxmlformats.org/officeDocument/2006/relationships" r:id="R2a38fd54371f4512"/>
  </p:notesMasterIdLst>
  <p:sldIdLst>
    <p:sldId xmlns:r="http://schemas.openxmlformats.org/officeDocument/2006/relationships" id="256" r:id="R661d44f9b6b344a6"/>
    <p:sldId xmlns:r="http://schemas.openxmlformats.org/officeDocument/2006/relationships" id="257" r:id="R0509d2ae965640dc"/>
    <p:sldId xmlns:r="http://schemas.openxmlformats.org/officeDocument/2006/relationships" id="258" r:id="Rcc3c2e599ea44f86"/>
    <p:sldId xmlns:r="http://schemas.openxmlformats.org/officeDocument/2006/relationships" id="259" r:id="R019b4780de754db8"/>
    <p:sldId xmlns:r="http://schemas.openxmlformats.org/officeDocument/2006/relationships" id="260" r:id="Rf65e2b4b17544f45"/>
    <p:sldId xmlns:r="http://schemas.openxmlformats.org/officeDocument/2006/relationships" id="261" r:id="R9e94fcf59a6d446b"/>
    <p:sldId xmlns:r="http://schemas.openxmlformats.org/officeDocument/2006/relationships" id="262" r:id="R05d34c15062e4d9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26295a43ca4e41" /><Relationship Type="http://schemas.openxmlformats.org/officeDocument/2006/relationships/slideMaster" Target="/ppt/slideMasters/slideMaster1.xml" Id="R87a820e111824a7f" /><Relationship Type="http://schemas.openxmlformats.org/officeDocument/2006/relationships/notesMaster" Target="/ppt/notesMasters/notesMaster1.xml" Id="R2a38fd54371f4512" /><Relationship Type="http://schemas.openxmlformats.org/officeDocument/2006/relationships/presProps" Target="/ppt/presProps.xml" Id="R84b55ed161154d0e" /><Relationship Type="http://schemas.openxmlformats.org/officeDocument/2006/relationships/tableStyles" Target="/ppt/tableStyles.xml" Id="Rf5051d04d7364bbf" /><Relationship Type="http://schemas.openxmlformats.org/officeDocument/2006/relationships/slide" Target="/ppt/slides/slide1.xml" Id="R661d44f9b6b344a6" /><Relationship Type="http://schemas.openxmlformats.org/officeDocument/2006/relationships/slide" Target="/ppt/slides/slide2.xml" Id="R0509d2ae965640dc" /><Relationship Type="http://schemas.openxmlformats.org/officeDocument/2006/relationships/slide" Target="/ppt/slides/slide3.xml" Id="Rcc3c2e599ea44f86" /><Relationship Type="http://schemas.openxmlformats.org/officeDocument/2006/relationships/slide" Target="/ppt/slides/slide4.xml" Id="R019b4780de754db8" /><Relationship Type="http://schemas.openxmlformats.org/officeDocument/2006/relationships/slide" Target="/ppt/slides/slide5.xml" Id="Rf65e2b4b17544f45" /><Relationship Type="http://schemas.openxmlformats.org/officeDocument/2006/relationships/slide" Target="/ppt/slides/slide6.xml" Id="R9e94fcf59a6d446b" /><Relationship Type="http://schemas.openxmlformats.org/officeDocument/2006/relationships/slide" Target="/ppt/slides/slide7.xml" Id="R05d34c15062e4d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770d76d1be49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195c514c2b410d" /><Relationship Type="http://schemas.openxmlformats.org/officeDocument/2006/relationships/notesMaster" Target="/ppt/notesMasters/notesMaster1.xml" Id="Re0090e37da8946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fcc614d8f2418d" /><Relationship Type="http://schemas.openxmlformats.org/officeDocument/2006/relationships/notesMaster" Target="/ppt/notesMasters/notesMaster1.xml" Id="R3b7b0fb65e6742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e76277b4824440" /><Relationship Type="http://schemas.openxmlformats.org/officeDocument/2006/relationships/notesMaster" Target="/ppt/notesMasters/notesMaster1.xml" Id="Rda5b2f7baead46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d899332851448b" /><Relationship Type="http://schemas.openxmlformats.org/officeDocument/2006/relationships/notesMaster" Target="/ppt/notesMasters/notesMaster1.xml" Id="Re86f095b175f45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fa68ff5873456b" /><Relationship Type="http://schemas.openxmlformats.org/officeDocument/2006/relationships/notesMaster" Target="/ppt/notesMasters/notesMaster1.xml" Id="Rc1cb1d563b554b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0eb0e33b484766" /><Relationship Type="http://schemas.openxmlformats.org/officeDocument/2006/relationships/notesMaster" Target="/ppt/notesMasters/notesMaster1.xml" Id="R852130a3a75c42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d8c4668fcb4219" /><Relationship Type="http://schemas.openxmlformats.org/officeDocument/2006/relationships/notesMaster" Target="/ppt/notesMasters/notesMaster1.xml" Id="R6ed15f843e404a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ab1f95a29446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b02c72472e41df" /><Relationship Type="http://schemas.openxmlformats.org/officeDocument/2006/relationships/slideLayout" Target="/ppt/slideLayouts/slideLayout1.xml" Id="R90edf081d12f4d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edf081d12f4d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46c40b6b0e4f34" /><Relationship Type="http://schemas.openxmlformats.org/officeDocument/2006/relationships/notesSlide" Target="/ppt/notesSlides/notesSlide1.xml" Id="Rd0bfa53178dd4e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905ef0aa454c86" /><Relationship Type="http://schemas.openxmlformats.org/officeDocument/2006/relationships/notesSlide" Target="/ppt/notesSlides/notesSlide2.xml" Id="R21c0806add2b48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f83c7495c14920" /><Relationship Type="http://schemas.openxmlformats.org/officeDocument/2006/relationships/notesSlide" Target="/ppt/notesSlides/notesSlide3.xml" Id="R5aae017611c042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eb23fe71ec4c82" /><Relationship Type="http://schemas.openxmlformats.org/officeDocument/2006/relationships/notesSlide" Target="/ppt/notesSlides/notesSlide4.xml" Id="R8809f3b70d7e4a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35b09086324843" /><Relationship Type="http://schemas.openxmlformats.org/officeDocument/2006/relationships/notesSlide" Target="/ppt/notesSlides/notesSlide5.xml" Id="R348b26441a5647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eb74d361b947c1" /><Relationship Type="http://schemas.openxmlformats.org/officeDocument/2006/relationships/notesSlide" Target="/ppt/notesSlides/notesSlide6.xml" Id="Re3d1b68643ac47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9d0a95fb7542a7" /><Relationship Type="http://schemas.openxmlformats.org/officeDocument/2006/relationships/notesSlide" Target="/ppt/notesSlides/notesSlide7.xml" Id="R1ef5397a6f274c4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0D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top-rule">
            <a:extLst xmlns:a="http://schemas.openxmlformats.org/drawingml/2006/main">
              <a:ext uri="{FF2B5EF4-FFF2-40B4-BE49-F238E27FC236}">
                <a16:creationId xmlns:a16="http://schemas.microsoft.com/office/drawing/2014/main" id="{BD843AB8-F9E4-413C-896F-E6653CF6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D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gold-rule">
            <a:extLst xmlns:a="http://schemas.openxmlformats.org/drawingml/2006/main">
              <a:ext uri="{FF2B5EF4-FFF2-40B4-BE49-F238E27FC236}">
                <a16:creationId xmlns:a16="http://schemas.microsoft.com/office/drawing/2014/main" id="{8D9F06F2-04C7-4537-8479-77F13C34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2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mall-ball-1">
            <a:extLst xmlns:a="http://schemas.openxmlformats.org/drawingml/2006/main">
              <a:ext uri="{FF2B5EF4-FFF2-40B4-BE49-F238E27FC236}">
                <a16:creationId xmlns:a16="http://schemas.microsoft.com/office/drawing/2014/main" id="{A9F29664-7842-4E1E-8C5C-6794C094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9144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DA8"/>
          </a:solidFill>
          <a:ln xmlns:a="http://schemas.openxmlformats.org/drawingml/2006/main" w="9525">
            <a:solidFill>
              <a:srgbClr val="F7E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small-ball-2">
            <a:extLst xmlns:a="http://schemas.openxmlformats.org/drawingml/2006/main">
              <a:ext uri="{FF2B5EF4-FFF2-40B4-BE49-F238E27FC236}">
                <a16:creationId xmlns:a16="http://schemas.microsoft.com/office/drawing/2014/main" id="{69823249-24AB-43BA-B093-4A95CA38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123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23C"/>
          </a:solidFill>
          <a:ln xmlns:a="http://schemas.openxmlformats.org/drawingml/2006/main" w="9525">
            <a:solidFill>
              <a:srgbClr val="F7E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small-ball-3">
            <a:extLst xmlns:a="http://schemas.openxmlformats.org/drawingml/2006/main">
              <a:ext uri="{FF2B5EF4-FFF2-40B4-BE49-F238E27FC236}">
                <a16:creationId xmlns:a16="http://schemas.microsoft.com/office/drawing/2014/main" id="{479D6AC0-63A4-4DDC-80B2-8D7A7EE0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962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0E8"/>
          </a:solidFill>
          <a:ln xmlns:a="http://schemas.openxmlformats.org/drawingml/2006/main" w="9525">
            <a:solidFill>
              <a:srgbClr val="F7E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small-ball-4">
            <a:extLst xmlns:a="http://schemas.openxmlformats.org/drawingml/2006/main">
              <a:ext uri="{FF2B5EF4-FFF2-40B4-BE49-F238E27FC236}">
                <a16:creationId xmlns:a16="http://schemas.microsoft.com/office/drawing/2014/main" id="{AA0B1D2E-7FA6-4D2B-8751-EAA7705F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62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D9A6"/>
          </a:solidFill>
          <a:ln xmlns:a="http://schemas.openxmlformats.org/drawingml/2006/main" w="9525">
            <a:solidFill>
              <a:srgbClr val="F7E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small-ball-5">
            <a:extLst xmlns:a="http://schemas.openxmlformats.org/drawingml/2006/main">
              <a:ext uri="{FF2B5EF4-FFF2-40B4-BE49-F238E27FC236}">
                <a16:creationId xmlns:a16="http://schemas.microsoft.com/office/drawing/2014/main" id="{C2730E92-27D6-4619-A657-97511FBD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238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83"/>
          </a:solidFill>
          <a:ln xmlns:a="http://schemas.openxmlformats.org/drawingml/2006/main" w="9525">
            <a:solidFill>
              <a:srgbClr val="F7E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focus-halo">
            <a:extLst xmlns:a="http://schemas.openxmlformats.org/drawingml/2006/main">
              <a:ext uri="{FF2B5EF4-FFF2-40B4-BE49-F238E27FC236}">
                <a16:creationId xmlns:a16="http://schemas.microsoft.com/office/drawing/2014/main" id="{F461DED3-AE1B-4E22-A66B-482CF791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114800"/>
            <a:ext cx="2076450" cy="2076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36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cus-ball">
            <a:extLst xmlns:a="http://schemas.openxmlformats.org/drawingml/2006/main">
              <a:ext uri="{FF2B5EF4-FFF2-40B4-BE49-F238E27FC236}">
                <a16:creationId xmlns:a16="http://schemas.microsoft.com/office/drawing/2014/main" id="{9EF815A5-49D7-440C-ADF6-78D661BC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381500"/>
            <a:ext cx="1543050" cy="1543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23C"/>
          </a:solidFill>
          <a:ln xmlns:a="http://schemas.openxmlformats.org/drawingml/2006/main" w="19050">
            <a:solidFill>
              <a:srgbClr val="F7E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0" name="title-eyebrow">
            <a:extLst xmlns:a="http://schemas.openxmlformats.org/drawingml/2006/main">
              <a:ext uri="{FF2B5EF4-FFF2-40B4-BE49-F238E27FC236}">
                <a16:creationId xmlns:a16="http://schemas.microsoft.com/office/drawing/2014/main" id="{F653223D-43B6-4518-AE48-9ACF1579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3B23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E3B23C"/>
                </a:solidFill>
                <a:latin typeface="Arial"/>
                <a:ea typeface="Arial"/>
                <a:cs typeface="Arial"/>
              </a:rPr>
              <a:t>FIVE IN THE AIR, ONE IN HAND</a:t>
            </a:r>
          </a:p>
        </p:txBody>
      </p:sp>
      <p:sp>
        <p:nvSpPr>
          <p:cNvPr id="11" name="title-main">
            <a:extLst xmlns:a="http://schemas.openxmlformats.org/drawingml/2006/main">
              <a:ext uri="{FF2B5EF4-FFF2-40B4-BE49-F238E27FC236}">
                <a16:creationId xmlns:a16="http://schemas.microsoft.com/office/drawing/2014/main" id="{28F7F64E-B6A3-4572-8DAB-4D58EFE1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685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F7E9EE"/>
                </a:solidFill>
                <a:latin typeface="Georgia"/>
                <a:ea typeface="Georgia"/>
                <a:cs typeface="Georgia"/>
              </a:defRPr>
            </a:pPr>
            <a:r>
              <a:rPr sz="4650" b="1" i="0">
                <a:solidFill>
                  <a:srgbClr val="F7E9EE"/>
                </a:solidFill>
                <a:latin typeface="Georgia"/>
                <a:ea typeface="Georgia"/>
                <a:cs typeface="Georgia"/>
              </a:rPr>
              <a:t>One Ball</a:t>
            </a:r>
          </a:p>
          <a:p xmlns:a="http://schemas.openxmlformats.org/drawingml/2006/main">
            <a:pPr algn="l">
              <a:defRPr sz="4650" b="1" i="0">
                <a:solidFill>
                  <a:srgbClr val="F7E9EE"/>
                </a:solidFill>
                <a:latin typeface="Georgia"/>
                <a:ea typeface="Georgia"/>
                <a:cs typeface="Georgia"/>
              </a:defRPr>
            </a:pPr>
            <a:r>
              <a:rPr sz="4650" b="1" i="0">
                <a:solidFill>
                  <a:srgbClr val="F7E9EE"/>
                </a:solidFill>
                <a:latin typeface="Georgia"/>
                <a:ea typeface="Georgia"/>
                <a:cs typeface="Georgia"/>
              </a:rPr>
              <a:t>at a Time</a:t>
            </a:r>
          </a:p>
        </p:txBody>
      </p:sp>
      <p:sp>
        <p:nvSpPr>
          <p:cNvPr id="12" name="title-tagline">
            <a:extLst xmlns:a="http://schemas.openxmlformats.org/drawingml/2006/main">
              <a:ext uri="{FF2B5EF4-FFF2-40B4-BE49-F238E27FC236}">
                <a16:creationId xmlns:a16="http://schemas.microsoft.com/office/drawing/2014/main" id="{322E494F-B92C-4BFB-ACE7-1B931CA4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600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1">
                <a:solidFill>
                  <a:srgbClr val="C9A0E8"/>
                </a:solidFill>
                <a:latin typeface="Georgia"/>
                <a:ea typeface="Georgia"/>
                <a:cs typeface="Georgia"/>
              </a:defRPr>
            </a:pPr>
            <a:r>
              <a:rPr sz="1950" b="0" i="1">
                <a:solidFill>
                  <a:srgbClr val="C9A0E8"/>
                </a:solidFill>
                <a:latin typeface="Georgia"/>
                <a:ea typeface="Georgia"/>
                <a:cs typeface="Georgia"/>
              </a:rPr>
              <a:t>A personal focus system for the moment when choosing feels harder than doing.</a:t>
            </a:r>
          </a:p>
        </p:txBody>
      </p:sp>
      <p:sp>
        <p:nvSpPr>
          <p:cNvPr id="13" name="title-status">
            <a:extLst xmlns:a="http://schemas.openxmlformats.org/drawingml/2006/main">
              <a:ext uri="{FF2B5EF4-FFF2-40B4-BE49-F238E27FC236}">
                <a16:creationId xmlns:a16="http://schemas.microsoft.com/office/drawing/2014/main" id="{83952518-A95F-4676-93D6-93FD1064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2190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DA8"/>
          </a:solidFill>
          <a:ln xmlns:a="http://schemas.openxmlformats.org/drawingml/2006/main" w="9525">
            <a:solidFill>
              <a:srgbClr val="FF5DA8"/>
            </a:solidFill>
            <a:prstDash val="solid"/>
          </a:ln>
        </p:spPr>
        <p:txBody>
          <a:bodyPr xmlns:a="http://schemas.openxmlformats.org/drawingml/2006/main" wrap="square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E080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E080D"/>
                </a:solidFill>
                <a:latin typeface="Arial"/>
                <a:ea typeface="Arial"/>
                <a:cs typeface="Arial"/>
              </a:rPr>
              <a:t>CURRENT PROTOTYPE</a:t>
            </a:r>
          </a:p>
        </p:txBody>
      </p:sp>
      <p:sp>
        <p:nvSpPr>
          <p:cNvPr id="14" name="title-meta">
            <a:extLst xmlns:a="http://schemas.openxmlformats.org/drawingml/2006/main">
              <a:ext uri="{FF2B5EF4-FFF2-40B4-BE49-F238E27FC236}">
                <a16:creationId xmlns:a16="http://schemas.microsoft.com/office/drawing/2014/main" id="{BEF68B71-F68F-4947-A84D-97BD180A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B98BA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B98BA0"/>
                </a:solidFill>
                <a:latin typeface="Arial"/>
                <a:ea typeface="Arial"/>
                <a:cs typeface="Arial"/>
              </a:rPr>
              <a:t>Product deck · July 2026</a:t>
            </a:r>
          </a:p>
        </p:txBody>
      </p:sp>
      <p:sp>
        <p:nvSpPr>
          <p:cNvPr id="15" name="title-credit">
            <a:extLst xmlns:a="http://schemas.openxmlformats.org/drawingml/2006/main">
              <a:ext uri="{FF2B5EF4-FFF2-40B4-BE49-F238E27FC236}">
                <a16:creationId xmlns:a16="http://schemas.microsoft.com/office/drawing/2014/main" id="{B545A2E8-7BBF-47A9-BDDB-F506A374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15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3B23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E3B23C"/>
                </a:solidFill>
                <a:latin typeface="Arial"/>
                <a:ea typeface="Arial"/>
                <a:cs typeface="Arial"/>
              </a:rPr>
              <a:t>Built by Srija</a:t>
            </a:r>
          </a:p>
        </p:txBody>
      </p:sp>
    </p:spTree>
    <p:extLst>
      <p:ext uri="{BB962C8B-B14F-4D97-AF65-F5344CB8AC3E}">
        <p14:creationId xmlns:p14="http://schemas.microsoft.com/office/powerpoint/2010/main" val="18887268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70D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accent-rule-2">
            <a:extLst xmlns:a="http://schemas.openxmlformats.org/drawingml/2006/main">
              <a:ext uri="{FF2B5EF4-FFF2-40B4-BE49-F238E27FC236}">
                <a16:creationId xmlns:a16="http://schemas.microsoft.com/office/drawing/2014/main" id="{1EBECE56-1929-4A01-89A7-AAD2C5A1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D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gold-rule-2">
            <a:extLst xmlns:a="http://schemas.openxmlformats.org/drawingml/2006/main">
              <a:ext uri="{FF2B5EF4-FFF2-40B4-BE49-F238E27FC236}">
                <a16:creationId xmlns:a16="http://schemas.microsoft.com/office/drawing/2014/main" id="{8B6186B5-4585-4E5F-8BA0-92A5194F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2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2">
            <a:extLst xmlns:a="http://schemas.openxmlformats.org/drawingml/2006/main">
              <a:ext uri="{FF2B5EF4-FFF2-40B4-BE49-F238E27FC236}">
                <a16:creationId xmlns:a16="http://schemas.microsoft.com/office/drawing/2014/main" id="{CF003354-C716-4FB7-8FB4-F5755C2F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3B23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E3B23C"/>
                </a:solidFill>
                <a:latin typeface="Arial"/>
                <a:ea typeface="Arial"/>
                <a:cs typeface="Arial"/>
              </a:rPr>
              <a:t>WHY THIS EXISTS</a:t>
            </a:r>
          </a:p>
        </p:txBody>
      </p:sp>
      <p:sp>
        <p:nvSpPr>
          <p:cNvPr id="4" name="title-2">
            <a:extLst xmlns:a="http://schemas.openxmlformats.org/drawingml/2006/main">
              <a:ext uri="{FF2B5EF4-FFF2-40B4-BE49-F238E27FC236}">
                <a16:creationId xmlns:a16="http://schemas.microsoft.com/office/drawing/2014/main" id="{D80F625B-6498-4405-AC0C-1603EF85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7E9EE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F7E9EE"/>
                </a:solidFill>
                <a:latin typeface="Georgia"/>
                <a:ea typeface="Georgia"/>
                <a:cs typeface="Georgia"/>
              </a:rPr>
              <a:t>The work felt impossible before it had even begun.</a:t>
            </a:r>
          </a:p>
        </p:txBody>
      </p:sp>
      <p:sp>
        <p:nvSpPr>
          <p:cNvPr id="5" name="footer-product-2">
            <a:extLst xmlns:a="http://schemas.openxmlformats.org/drawingml/2006/main">
              <a:ext uri="{FF2B5EF4-FFF2-40B4-BE49-F238E27FC236}">
                <a16:creationId xmlns:a16="http://schemas.microsoft.com/office/drawing/2014/main" id="{0299C0BD-7F46-4605-A13C-AD3BA95D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B98BA0"/>
                </a:solidFill>
                <a:latin typeface="Georgia"/>
                <a:ea typeface="Georgia"/>
                <a:cs typeface="Georgia"/>
              </a:defRPr>
            </a:pPr>
            <a:r>
              <a:rPr sz="900" b="0" i="1">
                <a:solidFill>
                  <a:srgbClr val="B98BA0"/>
                </a:solidFill>
                <a:latin typeface="Georgia"/>
                <a:ea typeface="Georgia"/>
                <a:cs typeface="Georgia"/>
              </a:rPr>
              <a:t>one ball, always.</a:t>
            </a:r>
          </a:p>
        </p:txBody>
      </p:sp>
      <p:sp>
        <p:nvSpPr>
          <p:cNvPr id="6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59940C9F-B525-4A3B-A8CA-4384A790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504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B98BA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B98BA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origin-quote">
            <a:extLst xmlns:a="http://schemas.openxmlformats.org/drawingml/2006/main">
              <a:ext uri="{FF2B5EF4-FFF2-40B4-BE49-F238E27FC236}">
                <a16:creationId xmlns:a16="http://schemas.microsoft.com/office/drawing/2014/main" id="{B615E68A-F4C6-4C58-99BB-AD73261F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62293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 i="1">
                <a:solidFill>
                  <a:srgbClr val="F7E9EE"/>
                </a:solidFill>
                <a:latin typeface="Georgia"/>
                <a:ea typeface="Georgia"/>
                <a:cs typeface="Georgia"/>
              </a:defRPr>
            </a:pPr>
            <a:r>
              <a:rPr sz="2325" b="0" i="1">
                <a:solidFill>
                  <a:srgbClr val="F7E9EE"/>
                </a:solidFill>
                <a:latin typeface="Georgia"/>
                <a:ea typeface="Georgia"/>
                <a:cs typeface="Georgia"/>
              </a:rPr>
              <a:t>“I felt overwhelmed and procrastinated because I couldn’t decide what to start. Once I finally began, the task was rarely as hard as it had seemed in my head.”</a:t>
            </a:r>
          </a:p>
        </p:txBody>
      </p:sp>
      <p:sp>
        <p:nvSpPr>
          <p:cNvPr id="8" name="origin-attribution">
            <a:extLst xmlns:a="http://schemas.openxmlformats.org/drawingml/2006/main">
              <a:ext uri="{FF2B5EF4-FFF2-40B4-BE49-F238E27FC236}">
                <a16:creationId xmlns:a16="http://schemas.microsoft.com/office/drawing/2014/main" id="{D6CFB5C9-54D1-40E2-A818-884D4641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3B23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E3B23C"/>
                </a:solidFill>
                <a:latin typeface="Arial"/>
                <a:ea typeface="Arial"/>
                <a:cs typeface="Arial"/>
              </a:rPr>
              <a:t>- the experience behind One Ball at a Time</a:t>
            </a:r>
          </a:p>
        </p:txBody>
      </p:sp>
      <p:sp>
        <p:nvSpPr>
          <p:cNvPr id="9" name="origin-panel">
            <a:extLst xmlns:a="http://schemas.openxmlformats.org/drawingml/2006/main">
              <a:ext uri="{FF2B5EF4-FFF2-40B4-BE49-F238E27FC236}">
                <a16:creationId xmlns:a16="http://schemas.microsoft.com/office/drawing/2014/main" id="{94727C02-8546-4457-9EF2-262FCEE5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24050"/>
            <a:ext cx="4019550" cy="3714750"/>
          </a:xfrm>
          <a:prstGeom xmlns:a="http://schemas.openxmlformats.org/drawingml/2006/main" prst="roundRect">
            <a:avLst>
              <a:gd name="adj" fmla="val 5641"/>
            </a:avLst>
          </a:prstGeom>
          <a:solidFill xmlns:a="http://schemas.openxmlformats.org/drawingml/2006/main">
            <a:srgbClr val="341C29"/>
          </a:solidFill>
          <a:ln xmlns:a="http://schemas.openxmlformats.org/drawingml/2006/main" w="19050">
            <a:solidFill>
              <a:srgbClr val="7A365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origin-panel-label">
            <a:extLst xmlns:a="http://schemas.openxmlformats.org/drawingml/2006/main">
              <a:ext uri="{FF2B5EF4-FFF2-40B4-BE49-F238E27FC236}">
                <a16:creationId xmlns:a16="http://schemas.microsoft.com/office/drawing/2014/main" id="{94943DE7-E1BA-44BD-9ED9-13C7A32D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288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3B23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E3B23C"/>
                </a:solidFill>
                <a:latin typeface="Arial"/>
                <a:ea typeface="Arial"/>
                <a:cs typeface="Arial"/>
              </a:rPr>
              <a:t>THE REAL BOTTLENECK</a:t>
            </a:r>
          </a:p>
        </p:txBody>
      </p:sp>
      <p:sp>
        <p:nvSpPr>
          <p:cNvPr id="11" name="friction-0">
            <a:extLst xmlns:a="http://schemas.openxmlformats.org/drawingml/2006/main">
              <a:ext uri="{FF2B5EF4-FFF2-40B4-BE49-F238E27FC236}">
                <a16:creationId xmlns:a16="http://schemas.microsoft.com/office/drawing/2014/main" id="{85686A72-8C66-4B9C-A4A4-594DFA40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6700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2130"/>
          </a:solidFill>
          <a:ln xmlns:a="http://schemas.openxmlformats.org/drawingml/2006/main" w="9525">
            <a:solidFill>
              <a:srgbClr val="3C2130"/>
            </a:solidFill>
            <a:prstDash val="solid"/>
          </a:ln>
        </p:spPr>
        <p:txBody>
          <a:bodyPr xmlns:a="http://schemas.openxmlformats.org/drawingml/2006/main" wrap="square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7E9E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7E9EE"/>
                </a:solidFill>
                <a:latin typeface="Arial"/>
                <a:ea typeface="Arial"/>
                <a:cs typeface="Arial"/>
              </a:rPr>
              <a:t>choose</a:t>
            </a:r>
          </a:p>
        </p:txBody>
      </p:sp>
      <p:sp>
        <p:nvSpPr>
          <p:cNvPr id="12" name="friction-1">
            <a:extLst xmlns:a="http://schemas.openxmlformats.org/drawingml/2006/main">
              <a:ext uri="{FF2B5EF4-FFF2-40B4-BE49-F238E27FC236}">
                <a16:creationId xmlns:a16="http://schemas.microsoft.com/office/drawing/2014/main" id="{AEA3BC9C-1C58-4A95-B414-863BACDA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66700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2130"/>
          </a:solidFill>
          <a:ln xmlns:a="http://schemas.openxmlformats.org/drawingml/2006/main" w="9525">
            <a:solidFill>
              <a:srgbClr val="3C2130"/>
            </a:solidFill>
            <a:prstDash val="solid"/>
          </a:ln>
        </p:spPr>
        <p:txBody>
          <a:bodyPr xmlns:a="http://schemas.openxmlformats.org/drawingml/2006/main" wrap="square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7E9E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7E9EE"/>
                </a:solidFill>
                <a:latin typeface="Arial"/>
                <a:ea typeface="Arial"/>
                <a:cs typeface="Arial"/>
              </a:rPr>
              <a:t>compare</a:t>
            </a:r>
          </a:p>
        </p:txBody>
      </p:sp>
      <p:sp>
        <p:nvSpPr>
          <p:cNvPr id="13" name="friction-2">
            <a:extLst xmlns:a="http://schemas.openxmlformats.org/drawingml/2006/main">
              <a:ext uri="{FF2B5EF4-FFF2-40B4-BE49-F238E27FC236}">
                <a16:creationId xmlns:a16="http://schemas.microsoft.com/office/drawing/2014/main" id="{E7412C59-3D2D-4E55-BCB4-648A0B57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575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DA8"/>
          </a:solidFill>
          <a:ln xmlns:a="http://schemas.openxmlformats.org/drawingml/2006/main" w="9525">
            <a:solidFill>
              <a:srgbClr val="FF5DA8"/>
            </a:solidFill>
            <a:prstDash val="solid"/>
          </a:ln>
        </p:spPr>
        <p:txBody>
          <a:bodyPr xmlns:a="http://schemas.openxmlformats.org/drawingml/2006/main" wrap="square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E080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E080D"/>
                </a:solidFill>
                <a:latin typeface="Arial"/>
                <a:ea typeface="Arial"/>
                <a:cs typeface="Arial"/>
              </a:rPr>
              <a:t>overthink</a:t>
            </a:r>
          </a:p>
        </p:txBody>
      </p:sp>
      <p:sp>
        <p:nvSpPr>
          <p:cNvPr id="14" name="friction-3">
            <a:extLst xmlns:a="http://schemas.openxmlformats.org/drawingml/2006/main">
              <a:ext uri="{FF2B5EF4-FFF2-40B4-BE49-F238E27FC236}">
                <a16:creationId xmlns:a16="http://schemas.microsoft.com/office/drawing/2014/main" id="{1C520C80-7F91-4AE7-A864-073D5FE7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575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2130"/>
          </a:solidFill>
          <a:ln xmlns:a="http://schemas.openxmlformats.org/drawingml/2006/main" w="9525">
            <a:solidFill>
              <a:srgbClr val="3C2130"/>
            </a:solidFill>
            <a:prstDash val="solid"/>
          </a:ln>
        </p:spPr>
        <p:txBody>
          <a:bodyPr xmlns:a="http://schemas.openxmlformats.org/drawingml/2006/main" wrap="square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7E9E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7E9EE"/>
                </a:solidFill>
                <a:latin typeface="Arial"/>
                <a:ea typeface="Arial"/>
                <a:cs typeface="Arial"/>
              </a:rPr>
              <a:t>delay</a:t>
            </a:r>
          </a:p>
        </p:txBody>
      </p:sp>
      <p:sp>
        <p:nvSpPr>
          <p:cNvPr id="15" name="friction-4">
            <a:extLst xmlns:a="http://schemas.openxmlformats.org/drawingml/2006/main">
              <a:ext uri="{FF2B5EF4-FFF2-40B4-BE49-F238E27FC236}">
                <a16:creationId xmlns:a16="http://schemas.microsoft.com/office/drawing/2014/main" id="{B0A53882-E927-4A58-9EDB-6B73E97C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4810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2130"/>
          </a:solidFill>
          <a:ln xmlns:a="http://schemas.openxmlformats.org/drawingml/2006/main" w="9525">
            <a:solidFill>
              <a:srgbClr val="3C2130"/>
            </a:solidFill>
            <a:prstDash val="solid"/>
          </a:ln>
        </p:spPr>
        <p:txBody>
          <a:bodyPr xmlns:a="http://schemas.openxmlformats.org/drawingml/2006/main" wrap="square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7E9E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7E9EE"/>
                </a:solidFill>
                <a:latin typeface="Arial"/>
                <a:ea typeface="Arial"/>
                <a:cs typeface="Arial"/>
              </a:rPr>
              <a:t>feel worse</a:t>
            </a:r>
          </a:p>
        </p:txBody>
      </p:sp>
      <p:sp>
        <p:nvSpPr>
          <p:cNvPr id="16" name="origin-break">
            <a:extLst xmlns:a="http://schemas.openxmlformats.org/drawingml/2006/main">
              <a:ext uri="{FF2B5EF4-FFF2-40B4-BE49-F238E27FC236}">
                <a16:creationId xmlns:a16="http://schemas.microsoft.com/office/drawing/2014/main" id="{FC47622F-A21F-47C3-B0D3-8191F7C0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14850"/>
            <a:ext cx="13906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B23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E080D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0E080D"/>
                </a:solidFill>
                <a:latin typeface="Georgia"/>
                <a:ea typeface="Georgia"/>
                <a:cs typeface="Georgia"/>
              </a:rPr>
              <a:t>START</a:t>
            </a:r>
          </a:p>
        </p:txBody>
      </p:sp>
      <p:sp>
        <p:nvSpPr>
          <p:cNvPr id="17" name="origin-insight">
            <a:extLst xmlns:a="http://schemas.openxmlformats.org/drawingml/2006/main">
              <a:ext uri="{FF2B5EF4-FFF2-40B4-BE49-F238E27FC236}">
                <a16:creationId xmlns:a16="http://schemas.microsoft.com/office/drawing/2014/main" id="{E963D540-8E61-450D-8170-62311055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210175"/>
            <a:ext cx="3638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1">
                <a:solidFill>
                  <a:srgbClr val="C9A0E8"/>
                </a:solidFill>
                <a:latin typeface="Georgia"/>
                <a:ea typeface="Georgia"/>
                <a:cs typeface="Georgia"/>
              </a:defRPr>
            </a:pPr>
            <a:r>
              <a:rPr sz="1350" b="0" i="1">
                <a:solidFill>
                  <a:srgbClr val="C9A0E8"/>
                </a:solidFill>
                <a:latin typeface="Georgia"/>
                <a:ea typeface="Georgia"/>
                <a:cs typeface="Georgia"/>
              </a:rPr>
              <a:t>The first useful intervention is not more planning. It is a smaller decision.</a:t>
            </a:r>
          </a:p>
        </p:txBody>
      </p:sp>
    </p:spTree>
    <p:extLst>
      <p:ext uri="{BB962C8B-B14F-4D97-AF65-F5344CB8AC3E}">
        <p14:creationId xmlns:p14="http://schemas.microsoft.com/office/powerpoint/2010/main" val="13980921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0D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accent-rule-3">
            <a:extLst xmlns:a="http://schemas.openxmlformats.org/drawingml/2006/main">
              <a:ext uri="{FF2B5EF4-FFF2-40B4-BE49-F238E27FC236}">
                <a16:creationId xmlns:a16="http://schemas.microsoft.com/office/drawing/2014/main" id="{C9400826-617B-4A42-AFAC-79C1A30B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D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gold-rule-3">
            <a:extLst xmlns:a="http://schemas.openxmlformats.org/drawingml/2006/main">
              <a:ext uri="{FF2B5EF4-FFF2-40B4-BE49-F238E27FC236}">
                <a16:creationId xmlns:a16="http://schemas.microsoft.com/office/drawing/2014/main" id="{D2BDBDDC-D3C2-4E4D-B74E-3896F562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2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3">
            <a:extLst xmlns:a="http://schemas.openxmlformats.org/drawingml/2006/main">
              <a:ext uri="{FF2B5EF4-FFF2-40B4-BE49-F238E27FC236}">
                <a16:creationId xmlns:a16="http://schemas.microsoft.com/office/drawing/2014/main" id="{FCA529D7-2FB4-41F6-BEAB-E75F234A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3B23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E3B23C"/>
                </a:solidFill>
                <a:latin typeface="Arial"/>
                <a:ea typeface="Arial"/>
                <a:cs typeface="Arial"/>
              </a:rPr>
              <a:t>CURRENT EXPERIENCE</a:t>
            </a:r>
          </a:p>
        </p:txBody>
      </p:sp>
      <p:sp>
        <p:nvSpPr>
          <p:cNvPr id="4" name="title-3">
            <a:extLst xmlns:a="http://schemas.openxmlformats.org/drawingml/2006/main">
              <a:ext uri="{FF2B5EF4-FFF2-40B4-BE49-F238E27FC236}">
                <a16:creationId xmlns:a16="http://schemas.microsoft.com/office/drawing/2014/main" id="{BB208001-C34B-4F0E-A5CF-037AB5F1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7E9EE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F7E9EE"/>
                </a:solidFill>
                <a:latin typeface="Georgia"/>
                <a:ea typeface="Georgia"/>
                <a:cs typeface="Georgia"/>
              </a:rPr>
              <a:t>Five visible slots make the next move finite.</a:t>
            </a:r>
          </a:p>
        </p:txBody>
      </p:sp>
      <p:sp>
        <p:nvSpPr>
          <p:cNvPr id="5" name="footer-product-3">
            <a:extLst xmlns:a="http://schemas.openxmlformats.org/drawingml/2006/main">
              <a:ext uri="{FF2B5EF4-FFF2-40B4-BE49-F238E27FC236}">
                <a16:creationId xmlns:a16="http://schemas.microsoft.com/office/drawing/2014/main" id="{6B4CB304-3475-4491-A6E3-4608CEB8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B98BA0"/>
                </a:solidFill>
                <a:latin typeface="Georgia"/>
                <a:ea typeface="Georgia"/>
                <a:cs typeface="Georgia"/>
              </a:defRPr>
            </a:pPr>
            <a:r>
              <a:rPr sz="900" b="0" i="1">
                <a:solidFill>
                  <a:srgbClr val="B98BA0"/>
                </a:solidFill>
                <a:latin typeface="Georgia"/>
                <a:ea typeface="Georgia"/>
                <a:cs typeface="Georgia"/>
              </a:rPr>
              <a:t>one ball, always.</a:t>
            </a:r>
          </a:p>
        </p:txBody>
      </p:sp>
      <p:sp>
        <p:nvSpPr>
          <p:cNvPr id="6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9517723B-A465-497C-8180-EC9A9C06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504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B98BA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B98BA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board-card-1">
            <a:extLst xmlns:a="http://schemas.openxmlformats.org/drawingml/2006/main">
              <a:ext uri="{FF2B5EF4-FFF2-40B4-BE49-F238E27FC236}">
                <a16:creationId xmlns:a16="http://schemas.microsoft.com/office/drawing/2014/main" id="{A76956E4-6334-4DC2-A627-BEB6F226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00050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3C2130"/>
          </a:solidFill>
          <a:ln xmlns:a="http://schemas.openxmlformats.org/drawingml/2006/main" w="19050">
            <a:solidFill>
              <a:srgbClr val="FF5D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board-card-1-top">
            <a:extLst xmlns:a="http://schemas.openxmlformats.org/drawingml/2006/main">
              <a:ext uri="{FF2B5EF4-FFF2-40B4-BE49-F238E27FC236}">
                <a16:creationId xmlns:a16="http://schemas.microsoft.com/office/drawing/2014/main" id="{43BCB894-E5C1-4F3B-9416-4792E025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0005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D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ard-card-1-cat">
            <a:extLst xmlns:a="http://schemas.openxmlformats.org/drawingml/2006/main">
              <a:ext uri="{FF2B5EF4-FFF2-40B4-BE49-F238E27FC236}">
                <a16:creationId xmlns:a16="http://schemas.microsoft.com/office/drawing/2014/main" id="{745388B9-85F0-48D9-AC1F-18EA4F616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DA8"/>
          </a:solidFill>
          <a:ln xmlns:a="http://schemas.openxmlformats.org/drawingml/2006/main" w="9525">
            <a:solidFill>
              <a:srgbClr val="FF5DA8"/>
            </a:solidFill>
            <a:prstDash val="solid"/>
          </a:ln>
        </p:spPr>
        <p:txBody>
          <a:bodyPr xmlns:a="http://schemas.openxmlformats.org/drawingml/2006/main" wrap="square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7E9E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7E9EE"/>
                </a:solidFill>
                <a:latin typeface="Arial"/>
                <a:ea typeface="Arial"/>
                <a:cs typeface="Arial"/>
              </a:rPr>
              <a:t>Creator Mode</a:t>
            </a:r>
          </a:p>
        </p:txBody>
      </p:sp>
      <p:sp>
        <p:nvSpPr>
          <p:cNvPr id="10" name="board-card-1-title">
            <a:extLst xmlns:a="http://schemas.openxmlformats.org/drawingml/2006/main">
              <a:ext uri="{FF2B5EF4-FFF2-40B4-BE49-F238E27FC236}">
                <a16:creationId xmlns:a16="http://schemas.microsoft.com/office/drawing/2014/main" id="{6E96CADF-3FA6-409F-ADD9-B5DCE4BA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90800"/>
            <a:ext cx="365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7E9EE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F7E9EE"/>
                </a:solidFill>
                <a:latin typeface="Georgia"/>
                <a:ea typeface="Georgia"/>
                <a:cs typeface="Georgia"/>
              </a:rPr>
              <a:t>Draft the product story</a:t>
            </a:r>
          </a:p>
        </p:txBody>
      </p:sp>
      <p:sp>
        <p:nvSpPr>
          <p:cNvPr id="11" name="board-card-1-meta">
            <a:extLst xmlns:a="http://schemas.openxmlformats.org/drawingml/2006/main">
              <a:ext uri="{FF2B5EF4-FFF2-40B4-BE49-F238E27FC236}">
                <a16:creationId xmlns:a16="http://schemas.microsoft.com/office/drawing/2014/main" id="{E4DABD59-7389-422F-A5BF-76DAD2A1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81325"/>
            <a:ext cx="365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5DA8"/>
                </a:solidFill>
                <a:latin typeface="Georgia"/>
                <a:ea typeface="Georgia"/>
                <a:cs typeface="Georgia"/>
              </a:defRPr>
            </a:pPr>
            <a:r>
              <a:rPr sz="1275" b="1" i="0">
                <a:solidFill>
                  <a:srgbClr val="FF5DA8"/>
                </a:solidFill>
                <a:latin typeface="Georgia"/>
                <a:ea typeface="Georgia"/>
                <a:cs typeface="Georgia"/>
              </a:rPr>
              <a:t>28:52   ·   5 pts</a:t>
            </a:r>
          </a:p>
        </p:txBody>
      </p:sp>
      <p:sp>
        <p:nvSpPr>
          <p:cNvPr id="12" name="board-card-2">
            <a:extLst xmlns:a="http://schemas.openxmlformats.org/drawingml/2006/main">
              <a:ext uri="{FF2B5EF4-FFF2-40B4-BE49-F238E27FC236}">
                <a16:creationId xmlns:a16="http://schemas.microsoft.com/office/drawing/2014/main" id="{38E26D9D-4D10-4414-93DB-37AB9CFB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00050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2A1722"/>
          </a:solidFill>
          <a:ln xmlns:a="http://schemas.openxmlformats.org/drawingml/2006/main" w="19050">
            <a:solidFill>
              <a:srgbClr val="4D253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board-card-2-top">
            <a:extLst xmlns:a="http://schemas.openxmlformats.org/drawingml/2006/main">
              <a:ext uri="{FF2B5EF4-FFF2-40B4-BE49-F238E27FC236}">
                <a16:creationId xmlns:a16="http://schemas.microsoft.com/office/drawing/2014/main" id="{118ECF26-1402-4A90-8BC7-A83C7A67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0005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B2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ard-card-2-cat">
            <a:extLst xmlns:a="http://schemas.openxmlformats.org/drawingml/2006/main">
              <a:ext uri="{FF2B5EF4-FFF2-40B4-BE49-F238E27FC236}">
                <a16:creationId xmlns:a16="http://schemas.microsoft.com/office/drawing/2014/main" id="{8FFC9B97-6889-480F-94E5-0282E39B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3652"/>
          </a:solidFill>
          <a:ln xmlns:a="http://schemas.openxmlformats.org/drawingml/2006/main" w="9525">
            <a:solidFill>
              <a:srgbClr val="7A3652"/>
            </a:solidFill>
            <a:prstDash val="solid"/>
          </a:ln>
        </p:spPr>
        <p:txBody>
          <a:bodyPr xmlns:a="http://schemas.openxmlformats.org/drawingml/2006/main" wrap="square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7E9E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7E9EE"/>
                </a:solidFill>
                <a:latin typeface="Arial"/>
                <a:ea typeface="Arial"/>
                <a:cs typeface="Arial"/>
              </a:rPr>
              <a:t>Empire Building</a:t>
            </a:r>
          </a:p>
        </p:txBody>
      </p:sp>
      <p:sp>
        <p:nvSpPr>
          <p:cNvPr id="15" name="board-card-2-title">
            <a:extLst xmlns:a="http://schemas.openxmlformats.org/drawingml/2006/main">
              <a:ext uri="{FF2B5EF4-FFF2-40B4-BE49-F238E27FC236}">
                <a16:creationId xmlns:a16="http://schemas.microsoft.com/office/drawing/2014/main" id="{24B2E903-E5BF-4AEC-B7BA-BE65F095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365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7E9EE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F7E9EE"/>
                </a:solidFill>
                <a:latin typeface="Georgia"/>
                <a:ea typeface="Georgia"/>
                <a:cs typeface="Georgia"/>
              </a:rPr>
              <a:t>Practice the hardest problem</a:t>
            </a:r>
          </a:p>
        </p:txBody>
      </p:sp>
      <p:sp>
        <p:nvSpPr>
          <p:cNvPr id="16" name="board-card-2-meta">
            <a:extLst xmlns:a="http://schemas.openxmlformats.org/drawingml/2006/main">
              <a:ext uri="{FF2B5EF4-FFF2-40B4-BE49-F238E27FC236}">
                <a16:creationId xmlns:a16="http://schemas.microsoft.com/office/drawing/2014/main" id="{1320FB42-2787-4B2F-9D01-500CEB2A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71975"/>
            <a:ext cx="365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98BA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B98BA0"/>
                </a:solidFill>
                <a:latin typeface="Arial"/>
                <a:ea typeface="Arial"/>
                <a:cs typeface="Arial"/>
              </a:rPr>
              <a:t>10 pts   ·   not started</a:t>
            </a:r>
          </a:p>
        </p:txBody>
      </p:sp>
      <p:sp>
        <p:nvSpPr>
          <p:cNvPr id="17" name="empty-slot">
            <a:extLst xmlns:a="http://schemas.openxmlformats.org/drawingml/2006/main">
              <a:ext uri="{FF2B5EF4-FFF2-40B4-BE49-F238E27FC236}">
                <a16:creationId xmlns:a16="http://schemas.microsoft.com/office/drawing/2014/main" id="{77D58A67-FB2A-4ED8-8314-76798E3E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4000500" cy="76200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170D13"/>
          </a:solidFill>
          <a:ln xmlns:a="http://schemas.openxmlformats.org/drawingml/2006/main" w="19050">
            <a:solidFill>
              <a:srgbClr val="7A3652"/>
            </a:solidFill>
            <a:prstDash val="dash"/>
          </a:ln>
        </p:spPr>
      </p:sp>
      <p:sp>
        <p:nvSpPr>
          <p:cNvPr id="18" name="empty-slot-copy">
            <a:extLst xmlns:a="http://schemas.openxmlformats.org/drawingml/2006/main">
              <a:ext uri="{FF2B5EF4-FFF2-40B4-BE49-F238E27FC236}">
                <a16:creationId xmlns:a16="http://schemas.microsoft.com/office/drawing/2014/main" id="{7EAFD2B8-AA50-4465-8864-88EA8676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E3B23C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E3B23C"/>
                </a:solidFill>
                <a:latin typeface="Georgia"/>
                <a:ea typeface="Georgia"/>
                <a:cs typeface="Georgia"/>
              </a:rPr>
              <a:t>Add Task</a:t>
            </a:r>
          </a:p>
        </p:txBody>
      </p:sp>
      <p:sp>
        <p:nvSpPr>
          <p:cNvPr id="19" name="board-lead">
            <a:extLst xmlns:a="http://schemas.openxmlformats.org/drawingml/2006/main">
              <a:ext uri="{FF2B5EF4-FFF2-40B4-BE49-F238E27FC236}">
                <a16:creationId xmlns:a16="http://schemas.microsoft.com/office/drawing/2014/main" id="{1064CF0C-82DA-4CF2-9557-B880DD8C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095500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C9A0E8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C9A0E8"/>
                </a:solidFill>
                <a:latin typeface="Georgia"/>
                <a:ea typeface="Georgia"/>
                <a:cs typeface="Georgia"/>
              </a:rPr>
              <a:t>What the prototype does now</a:t>
            </a:r>
          </a:p>
        </p:txBody>
      </p:sp>
      <p:sp>
        <p:nvSpPr>
          <p:cNvPr id="20" name="board-b1-dot">
            <a:extLst xmlns:a="http://schemas.openxmlformats.org/drawingml/2006/main">
              <a:ext uri="{FF2B5EF4-FFF2-40B4-BE49-F238E27FC236}">
                <a16:creationId xmlns:a16="http://schemas.microsoft.com/office/drawing/2014/main" id="{2EF97AD0-CCC1-4B7F-ACD5-1D7E4B8F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75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D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oard-b1">
            <a:extLst xmlns:a="http://schemas.openxmlformats.org/drawingml/2006/main">
              <a:ext uri="{FF2B5EF4-FFF2-40B4-BE49-F238E27FC236}">
                <a16:creationId xmlns:a16="http://schemas.microsoft.com/office/drawing/2014/main" id="{41766FF6-EB5C-4695-996D-C6C921D7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86050"/>
            <a:ext cx="529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7E9EE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7E9EE"/>
                </a:solidFill>
                <a:latin typeface="Arial"/>
                <a:ea typeface="Arial"/>
                <a:cs typeface="Arial"/>
              </a:rPr>
              <a:t>Keeps up to five active tasks visible.</a:t>
            </a:r>
          </a:p>
        </p:txBody>
      </p:sp>
      <p:sp>
        <p:nvSpPr>
          <p:cNvPr id="22" name="board-b2-dot">
            <a:extLst xmlns:a="http://schemas.openxmlformats.org/drawingml/2006/main">
              <a:ext uri="{FF2B5EF4-FFF2-40B4-BE49-F238E27FC236}">
                <a16:creationId xmlns:a16="http://schemas.microsoft.com/office/drawing/2014/main" id="{DB97A760-50DF-4AF2-93F3-2E182840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381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2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oard-b2">
            <a:extLst xmlns:a="http://schemas.openxmlformats.org/drawingml/2006/main">
              <a:ext uri="{FF2B5EF4-FFF2-40B4-BE49-F238E27FC236}">
                <a16:creationId xmlns:a16="http://schemas.microsoft.com/office/drawing/2014/main" id="{ED6AD5A6-7375-42BF-A26C-3420A58B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14700"/>
            <a:ext cx="529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7E9EE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7E9EE"/>
                </a:solidFill>
                <a:latin typeface="Arial"/>
                <a:ea typeface="Arial"/>
                <a:cs typeface="Arial"/>
              </a:rPr>
              <a:t>Marks one active task as today’s Eat the Frog priority.</a:t>
            </a:r>
          </a:p>
        </p:txBody>
      </p:sp>
      <p:sp>
        <p:nvSpPr>
          <p:cNvPr id="24" name="board-b3-dot">
            <a:extLst xmlns:a="http://schemas.openxmlformats.org/drawingml/2006/main">
              <a:ext uri="{FF2B5EF4-FFF2-40B4-BE49-F238E27FC236}">
                <a16:creationId xmlns:a16="http://schemas.microsoft.com/office/drawing/2014/main" id="{4CA7915A-2BA0-45BF-AB22-48740414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181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D9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oard-b3">
            <a:extLst xmlns:a="http://schemas.openxmlformats.org/drawingml/2006/main">
              <a:ext uri="{FF2B5EF4-FFF2-40B4-BE49-F238E27FC236}">
                <a16:creationId xmlns:a16="http://schemas.microsoft.com/office/drawing/2014/main" id="{32A50BD7-8ED3-4146-B906-AE8F0137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14800"/>
            <a:ext cx="529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7E9EE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7E9EE"/>
                </a:solidFill>
                <a:latin typeface="Arial"/>
                <a:ea typeface="Arial"/>
                <a:cs typeface="Arial"/>
              </a:rPr>
              <a:t>Adds category, priority quadrant and points, then starts a timer.</a:t>
            </a:r>
          </a:p>
        </p:txBody>
      </p:sp>
      <p:sp>
        <p:nvSpPr>
          <p:cNvPr id="26" name="board-b4-dot">
            <a:extLst xmlns:a="http://schemas.openxmlformats.org/drawingml/2006/main">
              <a:ext uri="{FF2B5EF4-FFF2-40B4-BE49-F238E27FC236}">
                <a16:creationId xmlns:a16="http://schemas.microsoft.com/office/drawing/2014/main" id="{BB82B665-A50A-4228-9F3A-402062AC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810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oard-b4">
            <a:extLst xmlns:a="http://schemas.openxmlformats.org/drawingml/2006/main">
              <a:ext uri="{FF2B5EF4-FFF2-40B4-BE49-F238E27FC236}">
                <a16:creationId xmlns:a16="http://schemas.microsoft.com/office/drawing/2014/main" id="{C5A39898-57AC-461A-891F-C68960DB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43450"/>
            <a:ext cx="5295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7E9EE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7E9EE"/>
                </a:solidFill>
                <a:latin typeface="Arial"/>
                <a:ea typeface="Arial"/>
                <a:cs typeface="Arial"/>
              </a:rPr>
              <a:t>Edit or remove before finishing; completing opens a board slot.</a:t>
            </a:r>
          </a:p>
        </p:txBody>
      </p:sp>
      <p:sp>
        <p:nvSpPr>
          <p:cNvPr id="28" name="board-note">
            <a:extLst xmlns:a="http://schemas.openxmlformats.org/drawingml/2006/main">
              <a:ext uri="{FF2B5EF4-FFF2-40B4-BE49-F238E27FC236}">
                <a16:creationId xmlns:a16="http://schemas.microsoft.com/office/drawing/2014/main" id="{6E86C0D6-B71D-4376-9DDC-39840323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657850"/>
            <a:ext cx="556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B98BA0"/>
                </a:solidFill>
                <a:latin typeface="Georgia"/>
                <a:ea typeface="Georgia"/>
                <a:cs typeface="Georgia"/>
              </a:defRPr>
            </a:pPr>
            <a:r>
              <a:rPr sz="1275" b="0" i="1">
                <a:solidFill>
                  <a:srgbClr val="B98BA0"/>
                </a:solidFill>
                <a:latin typeface="Georgia"/>
                <a:ea typeface="Georgia"/>
                <a:cs typeface="Georgia"/>
              </a:rPr>
              <a:t>The board reduces the universe of possible work to a small, concrete set.</a:t>
            </a:r>
          </a:p>
        </p:txBody>
      </p:sp>
    </p:spTree>
    <p:extLst>
      <p:ext uri="{BB962C8B-B14F-4D97-AF65-F5344CB8AC3E}">
        <p14:creationId xmlns:p14="http://schemas.microsoft.com/office/powerpoint/2010/main" val="9921944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0D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accent-rule-4">
            <a:extLst xmlns:a="http://schemas.openxmlformats.org/drawingml/2006/main">
              <a:ext uri="{FF2B5EF4-FFF2-40B4-BE49-F238E27FC236}">
                <a16:creationId xmlns:a16="http://schemas.microsoft.com/office/drawing/2014/main" id="{ABE3DE5A-1228-4566-BAAB-DEB345AA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D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gold-rule-4">
            <a:extLst xmlns:a="http://schemas.openxmlformats.org/drawingml/2006/main">
              <a:ext uri="{FF2B5EF4-FFF2-40B4-BE49-F238E27FC236}">
                <a16:creationId xmlns:a16="http://schemas.microsoft.com/office/drawing/2014/main" id="{39C50D12-5959-4920-B468-A3F6B7AD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2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4">
            <a:extLst xmlns:a="http://schemas.openxmlformats.org/drawingml/2006/main">
              <a:ext uri="{FF2B5EF4-FFF2-40B4-BE49-F238E27FC236}">
                <a16:creationId xmlns:a16="http://schemas.microsoft.com/office/drawing/2014/main" id="{915A66FB-3708-4170-B7A0-B1CCF5CA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3B23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E3B23C"/>
                </a:solidFill>
                <a:latin typeface="Arial"/>
                <a:ea typeface="Arial"/>
                <a:cs typeface="Arial"/>
              </a:rPr>
              <a:t>THE CORE LOOP</a:t>
            </a:r>
          </a:p>
        </p:txBody>
      </p:sp>
      <p:sp>
        <p:nvSpPr>
          <p:cNvPr id="4" name="title-4">
            <a:extLst xmlns:a="http://schemas.openxmlformats.org/drawingml/2006/main">
              <a:ext uri="{FF2B5EF4-FFF2-40B4-BE49-F238E27FC236}">
                <a16:creationId xmlns:a16="http://schemas.microsoft.com/office/drawing/2014/main" id="{22660BBC-02E7-4794-BA03-05AF9150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7E9EE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F7E9EE"/>
                </a:solidFill>
                <a:latin typeface="Georgia"/>
                <a:ea typeface="Georgia"/>
                <a:cs typeface="Georgia"/>
              </a:rPr>
              <a:t>Finishing converts effort into proof.</a:t>
            </a:r>
          </a:p>
        </p:txBody>
      </p:sp>
      <p:sp>
        <p:nvSpPr>
          <p:cNvPr id="5" name="footer-product-4">
            <a:extLst xmlns:a="http://schemas.openxmlformats.org/drawingml/2006/main">
              <a:ext uri="{FF2B5EF4-FFF2-40B4-BE49-F238E27FC236}">
                <a16:creationId xmlns:a16="http://schemas.microsoft.com/office/drawing/2014/main" id="{4C439B63-BA5D-4BA5-868B-42BA7F2F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B98BA0"/>
                </a:solidFill>
                <a:latin typeface="Georgia"/>
                <a:ea typeface="Georgia"/>
                <a:cs typeface="Georgia"/>
              </a:defRPr>
            </a:pPr>
            <a:r>
              <a:rPr sz="900" b="0" i="1">
                <a:solidFill>
                  <a:srgbClr val="B98BA0"/>
                </a:solidFill>
                <a:latin typeface="Georgia"/>
                <a:ea typeface="Georgia"/>
                <a:cs typeface="Georgia"/>
              </a:rPr>
              <a:t>one ball, always.</a:t>
            </a:r>
          </a:p>
        </p:txBody>
      </p:sp>
      <p:sp>
        <p:nvSpPr>
          <p:cNvPr id="6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8C0D6679-FF9B-406F-A47F-C9B8FD6D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504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B98BA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B98BA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7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91A8983D-C6F1-4873-890E-7941A369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28950"/>
            <a:ext cx="5905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A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8AEEEBC0-78C1-4E18-B016-CFDD73A4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28950"/>
            <a:ext cx="5905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A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low-card-1">
            <a:extLst xmlns:a="http://schemas.openxmlformats.org/drawingml/2006/main">
              <a:ext uri="{FF2B5EF4-FFF2-40B4-BE49-F238E27FC236}">
                <a16:creationId xmlns:a16="http://schemas.microsoft.com/office/drawing/2014/main" id="{FA121E12-A10D-4E9A-8C35-4C2111C6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876550" cy="1885950"/>
          </a:xfrm>
          <a:prstGeom xmlns:a="http://schemas.openxmlformats.org/drawingml/2006/main" prst="roundRect">
            <a:avLst>
              <a:gd name="adj" fmla="val 10101"/>
            </a:avLst>
          </a:prstGeom>
          <a:solidFill xmlns:a="http://schemas.openxmlformats.org/drawingml/2006/main">
            <a:srgbClr val="2A1722"/>
          </a:solidFill>
          <a:ln xmlns:a="http://schemas.openxmlformats.org/drawingml/2006/main" w="19050">
            <a:solidFill>
              <a:srgbClr val="4D2536"/>
            </a:solidFill>
            <a:prstDash val="solid"/>
          </a:ln>
        </p:spPr>
      </p:sp>
      <p:sp>
        <p:nvSpPr>
          <p:cNvPr id="10" name="flow-step-1">
            <a:extLst xmlns:a="http://schemas.openxmlformats.org/drawingml/2006/main">
              <a:ext uri="{FF2B5EF4-FFF2-40B4-BE49-F238E27FC236}">
                <a16:creationId xmlns:a16="http://schemas.microsoft.com/office/drawing/2014/main" id="{D6BBEC0D-F3A6-4A9A-BAAA-537C7501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76500"/>
            <a:ext cx="1238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3652"/>
          </a:solidFill>
          <a:ln xmlns:a="http://schemas.openxmlformats.org/drawingml/2006/main" w="9525">
            <a:solidFill>
              <a:srgbClr val="7A3652"/>
            </a:solidFill>
            <a:prstDash val="solid"/>
          </a:ln>
        </p:spPr>
        <p:txBody>
          <a:bodyPr xmlns:a="http://schemas.openxmlformats.org/drawingml/2006/main" wrap="square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7E9E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7E9EE"/>
                </a:solidFill>
                <a:latin typeface="Arial"/>
                <a:ea typeface="Arial"/>
                <a:cs typeface="Arial"/>
              </a:rPr>
              <a:t>1 · QUEUED</a:t>
            </a:r>
          </a:p>
        </p:txBody>
      </p:sp>
      <p:sp>
        <p:nvSpPr>
          <p:cNvPr id="11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B8444D26-E935-41F3-BC31-8A4E65D2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67050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7E9EE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F7E9EE"/>
                </a:solidFill>
                <a:latin typeface="Georgia"/>
                <a:ea typeface="Georgia"/>
                <a:cs typeface="Georgia"/>
              </a:rPr>
              <a:t>A task is named</a:t>
            </a:r>
          </a:p>
        </p:txBody>
      </p:sp>
      <p:sp>
        <p:nvSpPr>
          <p:cNvPr id="12" name="flow-copy-1">
            <a:extLst xmlns:a="http://schemas.openxmlformats.org/drawingml/2006/main">
              <a:ext uri="{FF2B5EF4-FFF2-40B4-BE49-F238E27FC236}">
                <a16:creationId xmlns:a16="http://schemas.microsoft.com/office/drawing/2014/main" id="{6C15F872-5F52-46AB-9537-19C707D7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52825"/>
            <a:ext cx="2324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B98BA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B98BA0"/>
                </a:solidFill>
                <a:latin typeface="Arial"/>
                <a:ea typeface="Arial"/>
                <a:cs typeface="Arial"/>
              </a:rPr>
              <a:t>Category + points make the work specific enough to begin.</a:t>
            </a:r>
          </a:p>
        </p:txBody>
      </p:sp>
      <p:sp>
        <p:nvSpPr>
          <p:cNvPr id="13" name="flow-card-2">
            <a:extLst xmlns:a="http://schemas.openxmlformats.org/drawingml/2006/main">
              <a:ext uri="{FF2B5EF4-FFF2-40B4-BE49-F238E27FC236}">
                <a16:creationId xmlns:a16="http://schemas.microsoft.com/office/drawing/2014/main" id="{F52E5453-FB54-4236-865F-5CC55FA0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57400"/>
            <a:ext cx="3371850" cy="21907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3C2130"/>
          </a:solidFill>
          <a:ln xmlns:a="http://schemas.openxmlformats.org/drawingml/2006/main" w="28575">
            <a:solidFill>
              <a:srgbClr val="FF5D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4" name="flow-step-2">
            <a:extLst xmlns:a="http://schemas.openxmlformats.org/drawingml/2006/main">
              <a:ext uri="{FF2B5EF4-FFF2-40B4-BE49-F238E27FC236}">
                <a16:creationId xmlns:a16="http://schemas.microsoft.com/office/drawing/2014/main" id="{B1E4F8F4-1B55-4523-A9FB-75118F9D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24100"/>
            <a:ext cx="1314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DA8"/>
          </a:solidFill>
          <a:ln xmlns:a="http://schemas.openxmlformats.org/drawingml/2006/main" w="9525">
            <a:solidFill>
              <a:srgbClr val="FF5DA8"/>
            </a:solidFill>
            <a:prstDash val="solid"/>
          </a:ln>
        </p:spPr>
        <p:txBody>
          <a:bodyPr xmlns:a="http://schemas.openxmlformats.org/drawingml/2006/main" wrap="square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E080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E080D"/>
                </a:solidFill>
                <a:latin typeface="Arial"/>
                <a:ea typeface="Arial"/>
                <a:cs typeface="Arial"/>
              </a:rPr>
              <a:t>2 · RUNNING</a:t>
            </a:r>
          </a:p>
        </p:txBody>
      </p:sp>
      <p:sp>
        <p:nvSpPr>
          <p:cNvPr id="15" name="flow-timer">
            <a:extLst xmlns:a="http://schemas.openxmlformats.org/drawingml/2006/main">
              <a:ext uri="{FF2B5EF4-FFF2-40B4-BE49-F238E27FC236}">
                <a16:creationId xmlns:a16="http://schemas.microsoft.com/office/drawing/2014/main" id="{EAFEE4BB-E799-4C26-9F5D-59471952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76550"/>
            <a:ext cx="2838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 i="0">
                <a:solidFill>
                  <a:srgbClr val="FF5DA8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FF5DA8"/>
                </a:solidFill>
                <a:latin typeface="Georgia"/>
                <a:ea typeface="Georgia"/>
                <a:cs typeface="Georgia"/>
              </a:rPr>
              <a:t>28:52</a:t>
            </a:r>
          </a:p>
        </p:txBody>
      </p:sp>
      <p:sp>
        <p:nvSpPr>
          <p:cNvPr id="16" name="flow-copy-2">
            <a:extLst xmlns:a="http://schemas.openxmlformats.org/drawingml/2006/main">
              <a:ext uri="{FF2B5EF4-FFF2-40B4-BE49-F238E27FC236}">
                <a16:creationId xmlns:a16="http://schemas.microsoft.com/office/drawing/2014/main" id="{FD340047-3003-43D3-A148-78081341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38550"/>
            <a:ext cx="2800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B98BA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98BA0"/>
                </a:solidFill>
                <a:latin typeface="Arial"/>
                <a:ea typeface="Arial"/>
                <a:cs typeface="Arial"/>
              </a:rPr>
              <a:t>A live timer makes effort tangible.</a:t>
            </a:r>
          </a:p>
        </p:txBody>
      </p:sp>
      <p:sp>
        <p:nvSpPr>
          <p:cNvPr id="17" name="flow-card-3">
            <a:extLst xmlns:a="http://schemas.openxmlformats.org/drawingml/2006/main">
              <a:ext uri="{FF2B5EF4-FFF2-40B4-BE49-F238E27FC236}">
                <a16:creationId xmlns:a16="http://schemas.microsoft.com/office/drawing/2014/main" id="{A9F39F6F-130D-4066-93D9-13642B5C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09800"/>
            <a:ext cx="2876550" cy="1885950"/>
          </a:xfrm>
          <a:prstGeom xmlns:a="http://schemas.openxmlformats.org/drawingml/2006/main" prst="roundRect">
            <a:avLst>
              <a:gd name="adj" fmla="val 10101"/>
            </a:avLst>
          </a:prstGeom>
          <a:solidFill xmlns:a="http://schemas.openxmlformats.org/drawingml/2006/main">
            <a:srgbClr val="2A1722"/>
          </a:solidFill>
          <a:ln xmlns:a="http://schemas.openxmlformats.org/drawingml/2006/main" w="19050">
            <a:solidFill>
              <a:srgbClr val="46D9A6"/>
            </a:solidFill>
            <a:prstDash val="solid"/>
          </a:ln>
        </p:spPr>
      </p:sp>
      <p:sp>
        <p:nvSpPr>
          <p:cNvPr id="18" name="flow-step-3">
            <a:extLst xmlns:a="http://schemas.openxmlformats.org/drawingml/2006/main">
              <a:ext uri="{FF2B5EF4-FFF2-40B4-BE49-F238E27FC236}">
                <a16:creationId xmlns:a16="http://schemas.microsoft.com/office/drawing/2014/main" id="{E0358E82-8212-4648-88F8-EE2E733D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76500"/>
            <a:ext cx="1466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D9A6"/>
          </a:solidFill>
          <a:ln xmlns:a="http://schemas.openxmlformats.org/drawingml/2006/main" w="9525">
            <a:solidFill>
              <a:srgbClr val="46D9A6"/>
            </a:solidFill>
            <a:prstDash val="solid"/>
          </a:ln>
        </p:spPr>
        <p:txBody>
          <a:bodyPr xmlns:a="http://schemas.openxmlformats.org/drawingml/2006/main" wrap="square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E080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E080D"/>
                </a:solidFill>
                <a:latin typeface="Arial"/>
                <a:ea typeface="Arial"/>
                <a:cs typeface="Arial"/>
              </a:rPr>
              <a:t>3 · FINISHED</a:t>
            </a:r>
          </a:p>
        </p:txBody>
      </p:sp>
      <p:sp>
        <p:nvSpPr>
          <p:cNvPr id="19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3A55EB6C-B36F-4827-B154-1B6E423C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067050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46D9A6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46D9A6"/>
                </a:solidFill>
                <a:latin typeface="Georgia"/>
                <a:ea typeface="Georgia"/>
                <a:cs typeface="Georgia"/>
              </a:rPr>
              <a:t>5 points earned</a:t>
            </a:r>
          </a:p>
        </p:txBody>
      </p:sp>
      <p:sp>
        <p:nvSpPr>
          <p:cNvPr id="20" name="flow-copy-3">
            <a:extLst xmlns:a="http://schemas.openxmlformats.org/drawingml/2006/main">
              <a:ext uri="{FF2B5EF4-FFF2-40B4-BE49-F238E27FC236}">
                <a16:creationId xmlns:a16="http://schemas.microsoft.com/office/drawing/2014/main" id="{4634EBE5-3199-499E-95C1-9DA17F83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2425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B98BA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B98BA0"/>
                </a:solidFill>
                <a:latin typeface="Arial"/>
                <a:ea typeface="Arial"/>
                <a:cs typeface="Arial"/>
              </a:rPr>
              <a:t>The log stores start, finish, duration, category and points.</a:t>
            </a:r>
          </a:p>
        </p:txBody>
      </p:sp>
      <p:sp>
        <p:nvSpPr>
          <p:cNvPr id="21" name="today-strip">
            <a:extLst xmlns:a="http://schemas.openxmlformats.org/drawingml/2006/main">
              <a:ext uri="{FF2B5EF4-FFF2-40B4-BE49-F238E27FC236}">
                <a16:creationId xmlns:a16="http://schemas.microsoft.com/office/drawing/2014/main" id="{B6908AE3-5076-4154-A213-0C33E594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341C29"/>
          </a:solidFill>
          <a:ln xmlns:a="http://schemas.openxmlformats.org/drawingml/2006/main" w="9525">
            <a:solidFill>
              <a:srgbClr val="7A3652"/>
            </a:solidFill>
            <a:prstDash val="solid"/>
          </a:ln>
        </p:spPr>
      </p:sp>
      <p:sp>
        <p:nvSpPr>
          <p:cNvPr id="22" name="today-label">
            <a:extLst xmlns:a="http://schemas.openxmlformats.org/drawingml/2006/main">
              <a:ext uri="{FF2B5EF4-FFF2-40B4-BE49-F238E27FC236}">
                <a16:creationId xmlns:a16="http://schemas.microsoft.com/office/drawing/2014/main" id="{7BD56139-8B92-4E2D-AC28-B803FCBE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911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3B23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E3B23C"/>
                </a:solidFill>
                <a:latin typeface="Arial"/>
                <a:ea typeface="Arial"/>
                <a:cs typeface="Arial"/>
              </a:rPr>
              <a:t>TODAY’S PROGRESS</a:t>
            </a:r>
          </a:p>
        </p:txBody>
      </p:sp>
      <p:sp>
        <p:nvSpPr>
          <p:cNvPr id="23" name="today-score">
            <a:extLst xmlns:a="http://schemas.openxmlformats.org/drawingml/2006/main">
              <a:ext uri="{FF2B5EF4-FFF2-40B4-BE49-F238E27FC236}">
                <a16:creationId xmlns:a16="http://schemas.microsoft.com/office/drawing/2014/main" id="{2BD96A43-4C0E-4A78-95C4-11E34B81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149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7E9EE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F7E9EE"/>
                </a:solidFill>
                <a:latin typeface="Georgia"/>
                <a:ea typeface="Georgia"/>
                <a:cs typeface="Georgia"/>
              </a:rPr>
              <a:t>17 / 25 pts</a:t>
            </a:r>
          </a:p>
        </p:txBody>
      </p:sp>
      <p:sp>
        <p:nvSpPr>
          <p:cNvPr id="24" name="today-track">
            <a:extLst xmlns:a="http://schemas.openxmlformats.org/drawingml/2006/main">
              <a:ext uri="{FF2B5EF4-FFF2-40B4-BE49-F238E27FC236}">
                <a16:creationId xmlns:a16="http://schemas.microsoft.com/office/drawing/2014/main" id="{E277CA0A-4E46-4415-8C4D-FD560DF2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248275"/>
            <a:ext cx="64960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21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oday-fill">
            <a:extLst xmlns:a="http://schemas.openxmlformats.org/drawingml/2006/main">
              <a:ext uri="{FF2B5EF4-FFF2-40B4-BE49-F238E27FC236}">
                <a16:creationId xmlns:a16="http://schemas.microsoft.com/office/drawing/2014/main" id="{B5BDA053-AE7B-4373-81E9-491EC2A0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248275"/>
            <a:ext cx="44196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D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oday-wins">
            <a:extLst xmlns:a="http://schemas.openxmlformats.org/drawingml/2006/main">
              <a:ext uri="{FF2B5EF4-FFF2-40B4-BE49-F238E27FC236}">
                <a16:creationId xmlns:a16="http://schemas.microsoft.com/office/drawing/2014/main" id="{D3597A39-C018-43BE-8C67-4E3CC371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20065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C9A0E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9A0E8"/>
                </a:solidFill>
                <a:latin typeface="Arial"/>
                <a:ea typeface="Arial"/>
                <a:cs typeface="Arial"/>
              </a:rPr>
              <a:t>3 wins · 8 pts to go</a:t>
            </a:r>
          </a:p>
        </p:txBody>
      </p:sp>
    </p:spTree>
    <p:extLst>
      <p:ext uri="{BB962C8B-B14F-4D97-AF65-F5344CB8AC3E}">
        <p14:creationId xmlns:p14="http://schemas.microsoft.com/office/powerpoint/2010/main" val="3082901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0D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accent-rule-5">
            <a:extLst xmlns:a="http://schemas.openxmlformats.org/drawingml/2006/main">
              <a:ext uri="{FF2B5EF4-FFF2-40B4-BE49-F238E27FC236}">
                <a16:creationId xmlns:a16="http://schemas.microsoft.com/office/drawing/2014/main" id="{C96CDCD7-2762-427F-A19E-5EF0B2EE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D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gold-rule-5">
            <a:extLst xmlns:a="http://schemas.openxmlformats.org/drawingml/2006/main">
              <a:ext uri="{FF2B5EF4-FFF2-40B4-BE49-F238E27FC236}">
                <a16:creationId xmlns:a16="http://schemas.microsoft.com/office/drawing/2014/main" id="{C17EDB5A-6763-4EDA-9FA8-1B81EFC3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2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5">
            <a:extLst xmlns:a="http://schemas.openxmlformats.org/drawingml/2006/main">
              <a:ext uri="{FF2B5EF4-FFF2-40B4-BE49-F238E27FC236}">
                <a16:creationId xmlns:a16="http://schemas.microsoft.com/office/drawing/2014/main" id="{23117ABD-9A43-48A6-8F72-B495B369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3B23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E3B23C"/>
                </a:solidFill>
                <a:latin typeface="Arial"/>
                <a:ea typeface="Arial"/>
                <a:cs typeface="Arial"/>
              </a:rPr>
              <a:t>AFTER THE TASK</a:t>
            </a:r>
          </a:p>
        </p:txBody>
      </p:sp>
      <p:sp>
        <p:nvSpPr>
          <p:cNvPr id="4" name="title-5">
            <a:extLst xmlns:a="http://schemas.openxmlformats.org/drawingml/2006/main">
              <a:ext uri="{FF2B5EF4-FFF2-40B4-BE49-F238E27FC236}">
                <a16:creationId xmlns:a16="http://schemas.microsoft.com/office/drawing/2014/main" id="{002B0DFF-7F0C-4927-BCFF-7D7029EE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7E9EE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F7E9EE"/>
                </a:solidFill>
                <a:latin typeface="Georgia"/>
                <a:ea typeface="Georgia"/>
                <a:cs typeface="Georgia"/>
              </a:rPr>
              <a:t>The history layer turns isolated wins into a pattern.</a:t>
            </a:r>
          </a:p>
        </p:txBody>
      </p:sp>
      <p:sp>
        <p:nvSpPr>
          <p:cNvPr id="5" name="footer-product-5">
            <a:extLst xmlns:a="http://schemas.openxmlformats.org/drawingml/2006/main">
              <a:ext uri="{FF2B5EF4-FFF2-40B4-BE49-F238E27FC236}">
                <a16:creationId xmlns:a16="http://schemas.microsoft.com/office/drawing/2014/main" id="{901752E3-7CFB-483C-9773-7914D1E2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B98BA0"/>
                </a:solidFill>
                <a:latin typeface="Georgia"/>
                <a:ea typeface="Georgia"/>
                <a:cs typeface="Georgia"/>
              </a:defRPr>
            </a:pPr>
            <a:r>
              <a:rPr sz="900" b="0" i="1">
                <a:solidFill>
                  <a:srgbClr val="B98BA0"/>
                </a:solidFill>
                <a:latin typeface="Georgia"/>
                <a:ea typeface="Georgia"/>
                <a:cs typeface="Georgia"/>
              </a:rPr>
              <a:t>one ball, always.</a:t>
            </a:r>
          </a:p>
        </p:txBody>
      </p:sp>
      <p:sp>
        <p:nvSpPr>
          <p:cNvPr id="6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0A454C4E-CCF4-424F-B9BD-D8931FC0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504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B98BA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B98BA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history-lead">
            <a:extLst xmlns:a="http://schemas.openxmlformats.org/drawingml/2006/main">
              <a:ext uri="{FF2B5EF4-FFF2-40B4-BE49-F238E27FC236}">
                <a16:creationId xmlns:a16="http://schemas.microsoft.com/office/drawing/2014/main" id="{C86F35D8-23AA-4604-84E2-AC4D4928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6425"/>
            <a:ext cx="695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1">
                <a:solidFill>
                  <a:srgbClr val="C9A0E8"/>
                </a:solidFill>
                <a:latin typeface="Georgia"/>
                <a:ea typeface="Georgia"/>
                <a:cs typeface="Georgia"/>
              </a:defRPr>
            </a:pPr>
            <a:r>
              <a:rPr sz="1875" b="0" i="1">
                <a:solidFill>
                  <a:srgbClr val="C9A0E8"/>
                </a:solidFill>
                <a:latin typeface="Georgia"/>
                <a:ea typeface="Georgia"/>
                <a:cs typeface="Georgia"/>
              </a:rPr>
              <a:t>The product keeps completion from disappearing the moment the timer stops.</a:t>
            </a:r>
          </a:p>
        </p:txBody>
      </p:sp>
      <p:sp>
        <p:nvSpPr>
          <p:cNvPr id="8" name="history-num-0">
            <a:extLst xmlns:a="http://schemas.openxmlformats.org/drawingml/2006/main">
              <a:ext uri="{FF2B5EF4-FFF2-40B4-BE49-F238E27FC236}">
                <a16:creationId xmlns:a16="http://schemas.microsoft.com/office/drawing/2014/main" id="{09837706-C92D-4D7D-A895-9E9BCD55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552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5DA8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FF5DA8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9" name="history-title-0">
            <a:extLst xmlns:a="http://schemas.openxmlformats.org/drawingml/2006/main">
              <a:ext uri="{FF2B5EF4-FFF2-40B4-BE49-F238E27FC236}">
                <a16:creationId xmlns:a16="http://schemas.microsoft.com/office/drawing/2014/main" id="{93523D71-A154-4EDC-95E3-A36A7692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813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7E9EE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F7E9EE"/>
                </a:solidFill>
                <a:latin typeface="Georgia"/>
                <a:ea typeface="Georgia"/>
                <a:cs typeface="Georgia"/>
              </a:rPr>
              <a:t>Today</a:t>
            </a:r>
          </a:p>
        </p:txBody>
      </p:sp>
      <p:sp>
        <p:nvSpPr>
          <p:cNvPr id="10" name="history-copy-0">
            <a:extLst xmlns:a="http://schemas.openxmlformats.org/drawingml/2006/main">
              <a:ext uri="{FF2B5EF4-FFF2-40B4-BE49-F238E27FC236}">
                <a16:creationId xmlns:a16="http://schemas.microsoft.com/office/drawing/2014/main" id="{B9D5B879-C00F-4A9E-AB4C-6FEB12F8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90825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B98BA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98BA0"/>
                </a:solidFill>
                <a:latin typeface="Arial"/>
                <a:ea typeface="Arial"/>
                <a:cs typeface="Arial"/>
              </a:rPr>
              <a:t>Completed tasks, category mix and daily-target progress.</a:t>
            </a:r>
          </a:p>
        </p:txBody>
      </p:sp>
      <p:sp>
        <p:nvSpPr>
          <p:cNvPr id="11" name="history-num-1">
            <a:extLst xmlns:a="http://schemas.openxmlformats.org/drawingml/2006/main">
              <a:ext uri="{FF2B5EF4-FFF2-40B4-BE49-F238E27FC236}">
                <a16:creationId xmlns:a16="http://schemas.microsoft.com/office/drawing/2014/main" id="{2246D7E5-3B4D-4802-92CD-A03796DA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75"/>
            <a:ext cx="552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E3B23C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E3B23C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2" name="history-title-1">
            <a:extLst xmlns:a="http://schemas.openxmlformats.org/drawingml/2006/main">
              <a:ext uri="{FF2B5EF4-FFF2-40B4-BE49-F238E27FC236}">
                <a16:creationId xmlns:a16="http://schemas.microsoft.com/office/drawing/2014/main" id="{C22D71B5-61DA-445D-AE47-3968F351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7187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7E9EE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F7E9EE"/>
                </a:solidFill>
                <a:latin typeface="Georgia"/>
                <a:ea typeface="Georgia"/>
                <a:cs typeface="Georgia"/>
              </a:rPr>
              <a:t>Dashboard</a:t>
            </a:r>
          </a:p>
        </p:txBody>
      </p:sp>
      <p:sp>
        <p:nvSpPr>
          <p:cNvPr id="13" name="history-copy-1">
            <a:extLst xmlns:a="http://schemas.openxmlformats.org/drawingml/2006/main">
              <a:ext uri="{FF2B5EF4-FFF2-40B4-BE49-F238E27FC236}">
                <a16:creationId xmlns:a16="http://schemas.microsoft.com/office/drawing/2014/main" id="{4F980E8A-D8A6-44AA-9155-D5E7C90C2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81400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B98BA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98BA0"/>
                </a:solidFill>
                <a:latin typeface="Arial"/>
                <a:ea typeface="Arial"/>
                <a:cs typeface="Arial"/>
              </a:rPr>
              <a:t>Day, week, weekend and month scores, with date navigation.</a:t>
            </a:r>
          </a:p>
        </p:txBody>
      </p:sp>
      <p:sp>
        <p:nvSpPr>
          <p:cNvPr id="14" name="history-num-2">
            <a:extLst xmlns:a="http://schemas.openxmlformats.org/drawingml/2006/main">
              <a:ext uri="{FF2B5EF4-FFF2-40B4-BE49-F238E27FC236}">
                <a16:creationId xmlns:a16="http://schemas.microsoft.com/office/drawing/2014/main" id="{08660EF5-3DBD-4A14-8AE5-62DAE713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62450"/>
            <a:ext cx="552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C9A0E8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C9A0E8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history-title-2">
            <a:extLst xmlns:a="http://schemas.openxmlformats.org/drawingml/2006/main">
              <a:ext uri="{FF2B5EF4-FFF2-40B4-BE49-F238E27FC236}">
                <a16:creationId xmlns:a16="http://schemas.microsoft.com/office/drawing/2014/main" id="{E8DD9B37-73E4-4BE7-A914-6DC62FBF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3624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7E9EE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F7E9EE"/>
                </a:solidFill>
                <a:latin typeface="Georgia"/>
                <a:ea typeface="Georgia"/>
                <a:cs typeface="Georgia"/>
              </a:rPr>
              <a:t>Analytics</a:t>
            </a:r>
          </a:p>
        </p:txBody>
      </p:sp>
      <p:sp>
        <p:nvSpPr>
          <p:cNvPr id="16" name="history-copy-2">
            <a:extLst xmlns:a="http://schemas.openxmlformats.org/drawingml/2006/main">
              <a:ext uri="{FF2B5EF4-FFF2-40B4-BE49-F238E27FC236}">
                <a16:creationId xmlns:a16="http://schemas.microsoft.com/office/drawing/2014/main" id="{5CA86117-B691-44C9-BB39-5B3BBFB7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71975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B98BA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98BA0"/>
                </a:solidFill>
                <a:latin typeface="Arial"/>
                <a:ea typeface="Arial"/>
                <a:cs typeface="Arial"/>
              </a:rPr>
              <a:t>Streaks, 30-day average, trends, category share, weekdays and heatmap.</a:t>
            </a:r>
          </a:p>
        </p:txBody>
      </p:sp>
      <p:sp>
        <p:nvSpPr>
          <p:cNvPr id="17" name="history-num-3">
            <a:extLst xmlns:a="http://schemas.openxmlformats.org/drawingml/2006/main">
              <a:ext uri="{FF2B5EF4-FFF2-40B4-BE49-F238E27FC236}">
                <a16:creationId xmlns:a16="http://schemas.microsoft.com/office/drawing/2014/main" id="{89630D41-9A62-4711-BECD-A7EF8307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53025"/>
            <a:ext cx="552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46D9A6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46D9A6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8" name="history-title-3">
            <a:extLst xmlns:a="http://schemas.openxmlformats.org/drawingml/2006/main">
              <a:ext uri="{FF2B5EF4-FFF2-40B4-BE49-F238E27FC236}">
                <a16:creationId xmlns:a16="http://schemas.microsoft.com/office/drawing/2014/main" id="{9B080704-A6E9-4F38-841B-9A2D8E80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15302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7E9EE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F7E9EE"/>
                </a:solidFill>
                <a:latin typeface="Georgia"/>
                <a:ea typeface="Georgia"/>
                <a:cs typeface="Georgia"/>
              </a:rPr>
              <a:t>Plan and reference</a:t>
            </a:r>
          </a:p>
        </p:txBody>
      </p:sp>
      <p:sp>
        <p:nvSpPr>
          <p:cNvPr id="19" name="history-copy-3">
            <a:extLst xmlns:a="http://schemas.openxmlformats.org/drawingml/2006/main">
              <a:ext uri="{FF2B5EF4-FFF2-40B4-BE49-F238E27FC236}">
                <a16:creationId xmlns:a16="http://schemas.microsoft.com/office/drawing/2014/main" id="{79C59A28-9F35-41FF-B95E-9262F0AF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62550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B98BA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98BA0"/>
                </a:solidFill>
                <a:latin typeface="Arial"/>
                <a:ea typeface="Arial"/>
                <a:cs typeface="Arial"/>
              </a:rPr>
              <a:t>Eisenhower matrix, task log, points guide and editable targets.</a:t>
            </a:r>
          </a:p>
        </p:txBody>
      </p:sp>
      <p:sp>
        <p:nvSpPr>
          <p:cNvPr id="20" name="pattern-panel">
            <a:extLst xmlns:a="http://schemas.openxmlformats.org/drawingml/2006/main">
              <a:ext uri="{FF2B5EF4-FFF2-40B4-BE49-F238E27FC236}">
                <a16:creationId xmlns:a16="http://schemas.microsoft.com/office/drawing/2014/main" id="{4325B8ED-3D9E-4414-801B-B4B11425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52625"/>
            <a:ext cx="3048000" cy="4038600"/>
          </a:xfrm>
          <a:prstGeom xmlns:a="http://schemas.openxmlformats.org/drawingml/2006/main" prst="roundRect">
            <a:avLst>
              <a:gd name="adj" fmla="val 6875"/>
            </a:avLst>
          </a:prstGeom>
          <a:solidFill xmlns:a="http://schemas.openxmlformats.org/drawingml/2006/main">
            <a:srgbClr val="341C29"/>
          </a:solidFill>
          <a:ln xmlns:a="http://schemas.openxmlformats.org/drawingml/2006/main" w="19050">
            <a:solidFill>
              <a:srgbClr val="7A3652"/>
            </a:solidFill>
            <a:prstDash val="solid"/>
          </a:ln>
        </p:spPr>
      </p:sp>
      <p:sp>
        <p:nvSpPr>
          <p:cNvPr id="21" name="pattern-big">
            <a:extLst xmlns:a="http://schemas.openxmlformats.org/drawingml/2006/main">
              <a:ext uri="{FF2B5EF4-FFF2-40B4-BE49-F238E27FC236}">
                <a16:creationId xmlns:a16="http://schemas.microsoft.com/office/drawing/2014/main" id="{4C1C695F-08EF-4BAD-A5CE-37FA80AA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2860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7E9EE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F7E9EE"/>
                </a:solidFill>
                <a:latin typeface="Georgia"/>
                <a:ea typeface="Georgia"/>
                <a:cs typeface="Georgia"/>
              </a:rPr>
              <a:t>17 weeks</a:t>
            </a:r>
          </a:p>
        </p:txBody>
      </p:sp>
      <p:sp>
        <p:nvSpPr>
          <p:cNvPr id="22" name="pattern-sub">
            <a:extLst xmlns:a="http://schemas.openxmlformats.org/drawingml/2006/main">
              <a:ext uri="{FF2B5EF4-FFF2-40B4-BE49-F238E27FC236}">
                <a16:creationId xmlns:a16="http://schemas.microsoft.com/office/drawing/2014/main" id="{8A2CB543-5163-4A3C-B971-F4ADDDFC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19400"/>
            <a:ext cx="232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B98BA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B98BA0"/>
                </a:solidFill>
                <a:latin typeface="Arial"/>
                <a:ea typeface="Arial"/>
                <a:cs typeface="Arial"/>
              </a:rPr>
              <a:t>of consistency context</a:t>
            </a:r>
          </a:p>
        </p:txBody>
      </p:sp>
      <p:sp>
        <p:nvSpPr>
          <p:cNvPr id="23" name="heat-0">
            <a:extLst xmlns:a="http://schemas.openxmlformats.org/drawingml/2006/main">
              <a:ext uri="{FF2B5EF4-FFF2-40B4-BE49-F238E27FC236}">
                <a16:creationId xmlns:a16="http://schemas.microsoft.com/office/drawing/2014/main" id="{C4DE16F1-2C1E-4FCC-A6E5-453E1E8A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71850"/>
            <a:ext cx="1714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C21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heat-1">
            <a:extLst xmlns:a="http://schemas.openxmlformats.org/drawingml/2006/main">
              <a:ext uri="{FF2B5EF4-FFF2-40B4-BE49-F238E27FC236}">
                <a16:creationId xmlns:a16="http://schemas.microsoft.com/office/drawing/2014/main" id="{09B06B48-E095-4EA9-A243-D8A07916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71850"/>
            <a:ext cx="1714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7A36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heat-2">
            <a:extLst xmlns:a="http://schemas.openxmlformats.org/drawingml/2006/main">
              <a:ext uri="{FF2B5EF4-FFF2-40B4-BE49-F238E27FC236}">
                <a16:creationId xmlns:a16="http://schemas.microsoft.com/office/drawing/2014/main" id="{270A7EE3-C58E-41A3-BFDC-9A2BA90D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371850"/>
            <a:ext cx="1714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7A36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heat-3">
            <a:extLst xmlns:a="http://schemas.openxmlformats.org/drawingml/2006/main">
              <a:ext uri="{FF2B5EF4-FFF2-40B4-BE49-F238E27FC236}">
                <a16:creationId xmlns:a16="http://schemas.microsoft.com/office/drawing/2014/main" id="{54580363-B4E4-432C-BEDE-CAD8CCCA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371850"/>
            <a:ext cx="1714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A13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heat-4">
            <a:extLst xmlns:a="http://schemas.openxmlformats.org/drawingml/2006/main">
              <a:ext uri="{FF2B5EF4-FFF2-40B4-BE49-F238E27FC236}">
                <a16:creationId xmlns:a16="http://schemas.microsoft.com/office/drawing/2014/main" id="{4B36676C-2005-4329-BF13-16F57361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371850"/>
            <a:ext cx="1714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C21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heat-5">
            <a:extLst xmlns:a="http://schemas.openxmlformats.org/drawingml/2006/main">
              <a:ext uri="{FF2B5EF4-FFF2-40B4-BE49-F238E27FC236}">
                <a16:creationId xmlns:a16="http://schemas.microsoft.com/office/drawing/2014/main" id="{AB28BF7D-B65B-48AD-8B8F-FB2BE0AA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71850"/>
            <a:ext cx="1714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A13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heat-6">
            <a:extLst xmlns:a="http://schemas.openxmlformats.org/drawingml/2006/main">
              <a:ext uri="{FF2B5EF4-FFF2-40B4-BE49-F238E27FC236}">
                <a16:creationId xmlns:a16="http://schemas.microsoft.com/office/drawing/2014/main" id="{C0D98897-2F77-4636-9413-EB34321B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71850"/>
            <a:ext cx="1714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94F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heat-7">
            <a:extLst xmlns:a="http://schemas.openxmlformats.org/drawingml/2006/main">
              <a:ext uri="{FF2B5EF4-FFF2-40B4-BE49-F238E27FC236}">
                <a16:creationId xmlns:a16="http://schemas.microsoft.com/office/drawing/2014/main" id="{2D105C57-B688-49D7-B400-1CE49745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371850"/>
            <a:ext cx="1714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7A36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heat-8">
            <a:extLst xmlns:a="http://schemas.openxmlformats.org/drawingml/2006/main">
              <a:ext uri="{FF2B5EF4-FFF2-40B4-BE49-F238E27FC236}">
                <a16:creationId xmlns:a16="http://schemas.microsoft.com/office/drawing/2014/main" id="{3EC34FB1-BD0C-4FB2-9D0A-99F2038C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371850"/>
            <a:ext cx="1714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5D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heat-9">
            <a:extLst xmlns:a="http://schemas.openxmlformats.org/drawingml/2006/main">
              <a:ext uri="{FF2B5EF4-FFF2-40B4-BE49-F238E27FC236}">
                <a16:creationId xmlns:a16="http://schemas.microsoft.com/office/drawing/2014/main" id="{7AF39C54-4B67-4655-A782-937495E0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19500"/>
            <a:ext cx="1714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A13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heat-10">
            <a:extLst xmlns:a="http://schemas.openxmlformats.org/drawingml/2006/main">
              <a:ext uri="{FF2B5EF4-FFF2-40B4-BE49-F238E27FC236}">
                <a16:creationId xmlns:a16="http://schemas.microsoft.com/office/drawing/2014/main" id="{A7A450C8-B1BC-4F4B-AA10-A18F86DA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19500"/>
            <a:ext cx="1714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C21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heat-11">
            <a:extLst xmlns:a="http://schemas.openxmlformats.org/drawingml/2006/main">
              <a:ext uri="{FF2B5EF4-FFF2-40B4-BE49-F238E27FC236}">
                <a16:creationId xmlns:a16="http://schemas.microsoft.com/office/drawing/2014/main" id="{8666564B-4834-4376-9F35-80ECB247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619500"/>
            <a:ext cx="1714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94F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heat-12">
            <a:extLst xmlns:a="http://schemas.openxmlformats.org/drawingml/2006/main">
              <a:ext uri="{FF2B5EF4-FFF2-40B4-BE49-F238E27FC236}">
                <a16:creationId xmlns:a16="http://schemas.microsoft.com/office/drawing/2014/main" id="{6DBBD89D-C793-4FF8-9AF4-08CB2C98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619500"/>
            <a:ext cx="1714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5D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heat-13">
            <a:extLst xmlns:a="http://schemas.openxmlformats.org/drawingml/2006/main">
              <a:ext uri="{FF2B5EF4-FFF2-40B4-BE49-F238E27FC236}">
                <a16:creationId xmlns:a16="http://schemas.microsoft.com/office/drawing/2014/main" id="{1FF2716A-3B9F-4814-816D-CA65CECF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619500"/>
            <a:ext cx="1714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5D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heat-14">
            <a:extLst xmlns:a="http://schemas.openxmlformats.org/drawingml/2006/main">
              <a:ext uri="{FF2B5EF4-FFF2-40B4-BE49-F238E27FC236}">
                <a16:creationId xmlns:a16="http://schemas.microsoft.com/office/drawing/2014/main" id="{A4956D4E-258F-404A-987F-4984B553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619500"/>
            <a:ext cx="1714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A13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heat-15">
            <a:extLst xmlns:a="http://schemas.openxmlformats.org/drawingml/2006/main">
              <a:ext uri="{FF2B5EF4-FFF2-40B4-BE49-F238E27FC236}">
                <a16:creationId xmlns:a16="http://schemas.microsoft.com/office/drawing/2014/main" id="{1C77DC85-689B-4E2C-8A12-E90D2B2E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19500"/>
            <a:ext cx="1714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94F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heat-16">
            <a:extLst xmlns:a="http://schemas.openxmlformats.org/drawingml/2006/main">
              <a:ext uri="{FF2B5EF4-FFF2-40B4-BE49-F238E27FC236}">
                <a16:creationId xmlns:a16="http://schemas.microsoft.com/office/drawing/2014/main" id="{2BD3F58C-578B-483B-A1A4-2580A0AB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619500"/>
            <a:ext cx="1714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7A36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heat-17">
            <a:extLst xmlns:a="http://schemas.openxmlformats.org/drawingml/2006/main">
              <a:ext uri="{FF2B5EF4-FFF2-40B4-BE49-F238E27FC236}">
                <a16:creationId xmlns:a16="http://schemas.microsoft.com/office/drawing/2014/main" id="{74F4151E-4320-47E0-8051-5B0EA774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619500"/>
            <a:ext cx="1714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C21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heat-18">
            <a:extLst xmlns:a="http://schemas.openxmlformats.org/drawingml/2006/main">
              <a:ext uri="{FF2B5EF4-FFF2-40B4-BE49-F238E27FC236}">
                <a16:creationId xmlns:a16="http://schemas.microsoft.com/office/drawing/2014/main" id="{9D118965-AC0C-4FE1-B459-DD4FE677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67150"/>
            <a:ext cx="1714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A13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heat-19">
            <a:extLst xmlns:a="http://schemas.openxmlformats.org/drawingml/2006/main">
              <a:ext uri="{FF2B5EF4-FFF2-40B4-BE49-F238E27FC236}">
                <a16:creationId xmlns:a16="http://schemas.microsoft.com/office/drawing/2014/main" id="{105CB22B-E3E9-4881-A8C6-C839984B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67150"/>
            <a:ext cx="1714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5D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heat-20">
            <a:extLst xmlns:a="http://schemas.openxmlformats.org/drawingml/2006/main">
              <a:ext uri="{FF2B5EF4-FFF2-40B4-BE49-F238E27FC236}">
                <a16:creationId xmlns:a16="http://schemas.microsoft.com/office/drawing/2014/main" id="{57E63728-1E80-45AE-A737-20153D0F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867150"/>
            <a:ext cx="1714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94F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heat-21">
            <a:extLst xmlns:a="http://schemas.openxmlformats.org/drawingml/2006/main">
              <a:ext uri="{FF2B5EF4-FFF2-40B4-BE49-F238E27FC236}">
                <a16:creationId xmlns:a16="http://schemas.microsoft.com/office/drawing/2014/main" id="{C73C1663-E1BD-4EF7-BBDF-DEF630AA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867150"/>
            <a:ext cx="1714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7A36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heat-22">
            <a:extLst xmlns:a="http://schemas.openxmlformats.org/drawingml/2006/main">
              <a:ext uri="{FF2B5EF4-FFF2-40B4-BE49-F238E27FC236}">
                <a16:creationId xmlns:a16="http://schemas.microsoft.com/office/drawing/2014/main" id="{C50760ED-13D8-452B-89FB-902E0CF5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867150"/>
            <a:ext cx="1714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A13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heat-23">
            <a:extLst xmlns:a="http://schemas.openxmlformats.org/drawingml/2006/main">
              <a:ext uri="{FF2B5EF4-FFF2-40B4-BE49-F238E27FC236}">
                <a16:creationId xmlns:a16="http://schemas.microsoft.com/office/drawing/2014/main" id="{E8C21AC1-9F3A-4C3F-BDFF-C3ABEB65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867150"/>
            <a:ext cx="1714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94F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heat-24">
            <a:extLst xmlns:a="http://schemas.openxmlformats.org/drawingml/2006/main">
              <a:ext uri="{FF2B5EF4-FFF2-40B4-BE49-F238E27FC236}">
                <a16:creationId xmlns:a16="http://schemas.microsoft.com/office/drawing/2014/main" id="{D9C9CE1A-52C2-475C-9FF0-C8E4B1A8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67150"/>
            <a:ext cx="1714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5D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heat-25">
            <a:extLst xmlns:a="http://schemas.openxmlformats.org/drawingml/2006/main">
              <a:ext uri="{FF2B5EF4-FFF2-40B4-BE49-F238E27FC236}">
                <a16:creationId xmlns:a16="http://schemas.microsoft.com/office/drawing/2014/main" id="{2C9F5316-8C71-4C35-82EA-96D8CFED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867150"/>
            <a:ext cx="1714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A13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heat-26">
            <a:extLst xmlns:a="http://schemas.openxmlformats.org/drawingml/2006/main">
              <a:ext uri="{FF2B5EF4-FFF2-40B4-BE49-F238E27FC236}">
                <a16:creationId xmlns:a16="http://schemas.microsoft.com/office/drawing/2014/main" id="{A9C95A16-BED1-4951-9947-EEA2BFAE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867150"/>
            <a:ext cx="1714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7A36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heat-27">
            <a:extLst xmlns:a="http://schemas.openxmlformats.org/drawingml/2006/main">
              <a:ext uri="{FF2B5EF4-FFF2-40B4-BE49-F238E27FC236}">
                <a16:creationId xmlns:a16="http://schemas.microsoft.com/office/drawing/2014/main" id="{F3F3A26A-97B0-4088-997A-B8E94D89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114800"/>
            <a:ext cx="1714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94F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heat-28">
            <a:extLst xmlns:a="http://schemas.openxmlformats.org/drawingml/2006/main">
              <a:ext uri="{FF2B5EF4-FFF2-40B4-BE49-F238E27FC236}">
                <a16:creationId xmlns:a16="http://schemas.microsoft.com/office/drawing/2014/main" id="{D85AA576-3B90-410E-80A6-9053D0E8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114800"/>
            <a:ext cx="1714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5D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heat-29">
            <a:extLst xmlns:a="http://schemas.openxmlformats.org/drawingml/2006/main">
              <a:ext uri="{FF2B5EF4-FFF2-40B4-BE49-F238E27FC236}">
                <a16:creationId xmlns:a16="http://schemas.microsoft.com/office/drawing/2014/main" id="{50ABC5C2-FAF1-41B2-8E9E-37903BA7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114800"/>
            <a:ext cx="1714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5D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heat-30">
            <a:extLst xmlns:a="http://schemas.openxmlformats.org/drawingml/2006/main">
              <a:ext uri="{FF2B5EF4-FFF2-40B4-BE49-F238E27FC236}">
                <a16:creationId xmlns:a16="http://schemas.microsoft.com/office/drawing/2014/main" id="{5A38BA55-7176-4528-9366-DE87EF1E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114800"/>
            <a:ext cx="1714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94F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heat-31">
            <a:extLst xmlns:a="http://schemas.openxmlformats.org/drawingml/2006/main">
              <a:ext uri="{FF2B5EF4-FFF2-40B4-BE49-F238E27FC236}">
                <a16:creationId xmlns:a16="http://schemas.microsoft.com/office/drawing/2014/main" id="{FEEB0603-D49C-4E1D-B206-7CA98EB2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114800"/>
            <a:ext cx="1714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A13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heat-32">
            <a:extLst xmlns:a="http://schemas.openxmlformats.org/drawingml/2006/main">
              <a:ext uri="{FF2B5EF4-FFF2-40B4-BE49-F238E27FC236}">
                <a16:creationId xmlns:a16="http://schemas.microsoft.com/office/drawing/2014/main" id="{A9B8C420-68C8-48B2-BA43-FB829514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114800"/>
            <a:ext cx="1714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5D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heat-33">
            <a:extLst xmlns:a="http://schemas.openxmlformats.org/drawingml/2006/main">
              <a:ext uri="{FF2B5EF4-FFF2-40B4-BE49-F238E27FC236}">
                <a16:creationId xmlns:a16="http://schemas.microsoft.com/office/drawing/2014/main" id="{790A668C-6179-4626-A41B-C0A6836F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14800"/>
            <a:ext cx="1714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7A36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heat-34">
            <a:extLst xmlns:a="http://schemas.openxmlformats.org/drawingml/2006/main">
              <a:ext uri="{FF2B5EF4-FFF2-40B4-BE49-F238E27FC236}">
                <a16:creationId xmlns:a16="http://schemas.microsoft.com/office/drawing/2014/main" id="{AD7DE676-2002-42AE-99EE-27FD0D45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4114800"/>
            <a:ext cx="1714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A13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heat-35">
            <a:extLst xmlns:a="http://schemas.openxmlformats.org/drawingml/2006/main">
              <a:ext uri="{FF2B5EF4-FFF2-40B4-BE49-F238E27FC236}">
                <a16:creationId xmlns:a16="http://schemas.microsoft.com/office/drawing/2014/main" id="{EFCA5518-71B9-4A78-AF68-1035C110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14800"/>
            <a:ext cx="1714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94F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pattern-metrics">
            <a:extLst xmlns:a="http://schemas.openxmlformats.org/drawingml/2006/main">
              <a:ext uri="{FF2B5EF4-FFF2-40B4-BE49-F238E27FC236}">
                <a16:creationId xmlns:a16="http://schemas.microsoft.com/office/drawing/2014/main" id="{0C5BA1DD-B22F-460B-92A9-8921023F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648200"/>
            <a:ext cx="2343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C9A0E8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C9A0E8"/>
                </a:solidFill>
                <a:latin typeface="Georgia"/>
                <a:ea typeface="Georgia"/>
                <a:cs typeface="Georgia"/>
              </a:rPr>
              <a:t>streaks  ·  total points</a:t>
            </a:r>
          </a:p>
          <a:p xmlns:a="http://schemas.openxmlformats.org/drawingml/2006/main">
            <a:pPr algn="ctr">
              <a:defRPr sz="1275" b="0" i="0">
                <a:solidFill>
                  <a:srgbClr val="C9A0E8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C9A0E8"/>
                </a:solidFill>
                <a:latin typeface="Georgia"/>
                <a:ea typeface="Georgia"/>
                <a:cs typeface="Georgia"/>
              </a:rPr>
              <a:t>30-day average  ·  best days</a:t>
            </a:r>
          </a:p>
        </p:txBody>
      </p:sp>
      <p:sp>
        <p:nvSpPr>
          <p:cNvPr id="60" name="pattern-pill">
            <a:extLst xmlns:a="http://schemas.openxmlformats.org/drawingml/2006/main">
              <a:ext uri="{FF2B5EF4-FFF2-40B4-BE49-F238E27FC236}">
                <a16:creationId xmlns:a16="http://schemas.microsoft.com/office/drawing/2014/main" id="{F076BDF5-A895-47A0-8B7B-3F465EAA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457825"/>
            <a:ext cx="2190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B23C"/>
          </a:solidFill>
          <a:ln xmlns:a="http://schemas.openxmlformats.org/drawingml/2006/main" w="9525">
            <a:solidFill>
              <a:srgbClr val="E3B23C"/>
            </a:solidFill>
            <a:prstDash val="solid"/>
          </a:ln>
        </p:spPr>
        <p:txBody>
          <a:bodyPr xmlns:a="http://schemas.openxmlformats.org/drawingml/2006/main" wrap="square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E080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E080D"/>
                </a:solidFill>
                <a:latin typeface="Arial"/>
                <a:ea typeface="Arial"/>
                <a:cs typeface="Arial"/>
              </a:rPr>
              <a:t>FEEDBACK, NOT PRESSURE</a:t>
            </a:r>
          </a:p>
        </p:txBody>
      </p:sp>
    </p:spTree>
    <p:extLst>
      <p:ext uri="{BB962C8B-B14F-4D97-AF65-F5344CB8AC3E}">
        <p14:creationId xmlns:p14="http://schemas.microsoft.com/office/powerpoint/2010/main" val="518676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0D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accent-rule-6">
            <a:extLst xmlns:a="http://schemas.openxmlformats.org/drawingml/2006/main">
              <a:ext uri="{FF2B5EF4-FFF2-40B4-BE49-F238E27FC236}">
                <a16:creationId xmlns:a16="http://schemas.microsoft.com/office/drawing/2014/main" id="{FF2B2EB7-33E7-4136-9E60-D8622659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D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gold-rule-6">
            <a:extLst xmlns:a="http://schemas.openxmlformats.org/drawingml/2006/main">
              <a:ext uri="{FF2B5EF4-FFF2-40B4-BE49-F238E27FC236}">
                <a16:creationId xmlns:a16="http://schemas.microsoft.com/office/drawing/2014/main" id="{0135795D-EA74-4839-A398-D67AD7BF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2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6">
            <a:extLst xmlns:a="http://schemas.openxmlformats.org/drawingml/2006/main">
              <a:ext uri="{FF2B5EF4-FFF2-40B4-BE49-F238E27FC236}">
                <a16:creationId xmlns:a16="http://schemas.microsoft.com/office/drawing/2014/main" id="{9DA4039E-5055-4C20-B572-1D0C2224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3B23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E3B23C"/>
                </a:solidFill>
                <a:latin typeface="Arial"/>
                <a:ea typeface="Arial"/>
                <a:cs typeface="Arial"/>
              </a:rPr>
              <a:t>CURRENT BUILD, PLAINLY</a:t>
            </a:r>
          </a:p>
        </p:txBody>
      </p:sp>
      <p:sp>
        <p:nvSpPr>
          <p:cNvPr id="4" name="title-6">
            <a:extLst xmlns:a="http://schemas.openxmlformats.org/drawingml/2006/main">
              <a:ext uri="{FF2B5EF4-FFF2-40B4-BE49-F238E27FC236}">
                <a16:creationId xmlns:a16="http://schemas.microsoft.com/office/drawing/2014/main" id="{A2E8D51E-FB02-4510-8F0F-85AD160F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7E9EE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F7E9EE"/>
                </a:solidFill>
                <a:latin typeface="Georgia"/>
                <a:ea typeface="Georgia"/>
                <a:cs typeface="Georgia"/>
              </a:rPr>
              <a:t>The prototype is focused, but still incomplete.</a:t>
            </a:r>
          </a:p>
        </p:txBody>
      </p:sp>
      <p:sp>
        <p:nvSpPr>
          <p:cNvPr id="5" name="footer-product-6">
            <a:extLst xmlns:a="http://schemas.openxmlformats.org/drawingml/2006/main">
              <a:ext uri="{FF2B5EF4-FFF2-40B4-BE49-F238E27FC236}">
                <a16:creationId xmlns:a16="http://schemas.microsoft.com/office/drawing/2014/main" id="{3FEFAC23-1428-40E8-B9D9-F35A00F5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B98BA0"/>
                </a:solidFill>
                <a:latin typeface="Georgia"/>
                <a:ea typeface="Georgia"/>
                <a:cs typeface="Georgia"/>
              </a:defRPr>
            </a:pPr>
            <a:r>
              <a:rPr sz="900" b="0" i="1">
                <a:solidFill>
                  <a:srgbClr val="B98BA0"/>
                </a:solidFill>
                <a:latin typeface="Georgia"/>
                <a:ea typeface="Georgia"/>
                <a:cs typeface="Georgia"/>
              </a:rPr>
              <a:t>one ball, always.</a:t>
            </a:r>
          </a:p>
        </p:txBody>
      </p:sp>
      <p:sp>
        <p:nvSpPr>
          <p:cNvPr id="6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73D1E51B-69A1-48CD-8E5F-9A17537F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504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B98BA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B98BA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now-panel">
            <a:extLst xmlns:a="http://schemas.openxmlformats.org/drawingml/2006/main">
              <a:ext uri="{FF2B5EF4-FFF2-40B4-BE49-F238E27FC236}">
                <a16:creationId xmlns:a16="http://schemas.microsoft.com/office/drawing/2014/main" id="{DC2D430C-AE87-4B36-A8E7-468F8328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010150" cy="3352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341C29"/>
          </a:solidFill>
          <a:ln xmlns:a="http://schemas.openxmlformats.org/drawingml/2006/main" w="19050">
            <a:solidFill>
              <a:srgbClr val="46D9A6"/>
            </a:solidFill>
            <a:prstDash val="solid"/>
          </a:ln>
        </p:spPr>
      </p:sp>
      <p:sp>
        <p:nvSpPr>
          <p:cNvPr id="8" name="gap-panel">
            <a:extLst xmlns:a="http://schemas.openxmlformats.org/drawingml/2006/main">
              <a:ext uri="{FF2B5EF4-FFF2-40B4-BE49-F238E27FC236}">
                <a16:creationId xmlns:a16="http://schemas.microsoft.com/office/drawing/2014/main" id="{E6A3E250-DB8F-472B-8D07-42D81F08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52625"/>
            <a:ext cx="5543550" cy="3352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341C29"/>
          </a:solidFill>
          <a:ln xmlns:a="http://schemas.openxmlformats.org/drawingml/2006/main" w="19050">
            <a:solidFill>
              <a:srgbClr val="E3B23C"/>
            </a:solidFill>
            <a:prstDash val="solid"/>
          </a:ln>
        </p:spPr>
      </p:sp>
      <p:sp>
        <p:nvSpPr>
          <p:cNvPr id="9" name="now-title">
            <a:extLst xmlns:a="http://schemas.openxmlformats.org/drawingml/2006/main">
              <a:ext uri="{FF2B5EF4-FFF2-40B4-BE49-F238E27FC236}">
                <a16:creationId xmlns:a16="http://schemas.microsoft.com/office/drawing/2014/main" id="{B4A34A49-BC29-43D8-9DD4-7C1274EE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46D9A6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46D9A6"/>
                </a:solidFill>
                <a:latin typeface="Georgia"/>
                <a:ea typeface="Georgia"/>
                <a:cs typeface="Georgia"/>
              </a:rPr>
              <a:t>Working now</a:t>
            </a:r>
          </a:p>
        </p:txBody>
      </p:sp>
      <p:sp>
        <p:nvSpPr>
          <p:cNvPr id="10" name="now-b1-dot">
            <a:extLst xmlns:a="http://schemas.openxmlformats.org/drawingml/2006/main">
              <a:ext uri="{FF2B5EF4-FFF2-40B4-BE49-F238E27FC236}">
                <a16:creationId xmlns:a16="http://schemas.microsoft.com/office/drawing/2014/main" id="{DDFE2D39-DF7E-4FA1-9EF7-FD8868C9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14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D9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now-b1">
            <a:extLst xmlns:a="http://schemas.openxmlformats.org/drawingml/2006/main">
              <a:ext uri="{FF2B5EF4-FFF2-40B4-BE49-F238E27FC236}">
                <a16:creationId xmlns:a16="http://schemas.microsoft.com/office/drawing/2014/main" id="{DF740167-A415-4925-AC24-60E6CB08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47975"/>
            <a:ext cx="4019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7E9E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7E9EE"/>
                </a:solidFill>
                <a:latin typeface="Arial"/>
                <a:ea typeface="Arial"/>
                <a:cs typeface="Arial"/>
              </a:rPr>
              <a:t>PIN-gated Express app with server sessions</a:t>
            </a:r>
          </a:p>
        </p:txBody>
      </p:sp>
      <p:sp>
        <p:nvSpPr>
          <p:cNvPr id="12" name="now-b2-dot">
            <a:extLst xmlns:a="http://schemas.openxmlformats.org/drawingml/2006/main">
              <a:ext uri="{FF2B5EF4-FFF2-40B4-BE49-F238E27FC236}">
                <a16:creationId xmlns:a16="http://schemas.microsoft.com/office/drawing/2014/main" id="{F0844EBF-84BE-429A-B1E6-9FAA3D4D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52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D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now-b2">
            <a:extLst xmlns:a="http://schemas.openxmlformats.org/drawingml/2006/main">
              <a:ext uri="{FF2B5EF4-FFF2-40B4-BE49-F238E27FC236}">
                <a16:creationId xmlns:a16="http://schemas.microsoft.com/office/drawing/2014/main" id="{D4F173DD-A9D3-4E36-9904-0E8D1B6C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86150"/>
            <a:ext cx="4019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7E9E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7E9EE"/>
                </a:solidFill>
                <a:latin typeface="Arial"/>
                <a:ea typeface="Arial"/>
                <a:cs typeface="Arial"/>
              </a:rPr>
              <a:t>PostgreSQL persistence for active tasks, log, targets and frog choice</a:t>
            </a:r>
          </a:p>
        </p:txBody>
      </p:sp>
      <p:sp>
        <p:nvSpPr>
          <p:cNvPr id="14" name="now-b3-dot">
            <a:extLst xmlns:a="http://schemas.openxmlformats.org/drawingml/2006/main">
              <a:ext uri="{FF2B5EF4-FFF2-40B4-BE49-F238E27FC236}">
                <a16:creationId xmlns:a16="http://schemas.microsoft.com/office/drawing/2014/main" id="{A20F2E4A-F6BC-4F8B-89C6-FF080777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76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ow-b3">
            <a:extLst xmlns:a="http://schemas.openxmlformats.org/drawingml/2006/main">
              <a:ext uri="{FF2B5EF4-FFF2-40B4-BE49-F238E27FC236}">
                <a16:creationId xmlns:a16="http://schemas.microsoft.com/office/drawing/2014/main" id="{779B646D-11C4-4368-9026-A5541344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10050"/>
            <a:ext cx="4019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7E9E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7E9EE"/>
                </a:solidFill>
                <a:latin typeface="Arial"/>
                <a:ea typeface="Arial"/>
                <a:cs typeface="Arial"/>
              </a:rPr>
              <a:t>Responsive vanilla HTML, CSS and JavaScript</a:t>
            </a:r>
          </a:p>
        </p:txBody>
      </p:sp>
      <p:sp>
        <p:nvSpPr>
          <p:cNvPr id="16" name="now-b4-dot">
            <a:extLst xmlns:a="http://schemas.openxmlformats.org/drawingml/2006/main">
              <a:ext uri="{FF2B5EF4-FFF2-40B4-BE49-F238E27FC236}">
                <a16:creationId xmlns:a16="http://schemas.microsoft.com/office/drawing/2014/main" id="{53FE21EC-E3AC-479C-8529-341A1E3A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14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2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now-b4">
            <a:extLst xmlns:a="http://schemas.openxmlformats.org/drawingml/2006/main">
              <a:ext uri="{FF2B5EF4-FFF2-40B4-BE49-F238E27FC236}">
                <a16:creationId xmlns:a16="http://schemas.microsoft.com/office/drawing/2014/main" id="{835CFEE8-2697-4284-B731-B8271720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48225"/>
            <a:ext cx="4019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7E9E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7E9EE"/>
                </a:solidFill>
                <a:latin typeface="Arial"/>
                <a:ea typeface="Arial"/>
                <a:cs typeface="Arial"/>
              </a:rPr>
              <a:t>API-backed edits with basic save-error handling</a:t>
            </a:r>
          </a:p>
        </p:txBody>
      </p:sp>
      <p:sp>
        <p:nvSpPr>
          <p:cNvPr id="18" name="gap-title">
            <a:extLst xmlns:a="http://schemas.openxmlformats.org/drawingml/2006/main">
              <a:ext uri="{FF2B5EF4-FFF2-40B4-BE49-F238E27FC236}">
                <a16:creationId xmlns:a16="http://schemas.microsoft.com/office/drawing/2014/main" id="{5A77A851-39C1-4989-A392-28FC0D83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669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E3B23C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E3B23C"/>
                </a:solidFill>
                <a:latin typeface="Georgia"/>
                <a:ea typeface="Georgia"/>
                <a:cs typeface="Georgia"/>
              </a:rPr>
              <a:t>Not yet guaranteed</a:t>
            </a:r>
          </a:p>
        </p:txBody>
      </p:sp>
      <p:sp>
        <p:nvSpPr>
          <p:cNvPr id="19" name="gap-b1-dot">
            <a:extLst xmlns:a="http://schemas.openxmlformats.org/drawingml/2006/main">
              <a:ext uri="{FF2B5EF4-FFF2-40B4-BE49-F238E27FC236}">
                <a16:creationId xmlns:a16="http://schemas.microsoft.com/office/drawing/2014/main" id="{9A332262-F2E5-47F9-8963-36723659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14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ap-b1">
            <a:extLst xmlns:a="http://schemas.openxmlformats.org/drawingml/2006/main">
              <a:ext uri="{FF2B5EF4-FFF2-40B4-BE49-F238E27FC236}">
                <a16:creationId xmlns:a16="http://schemas.microsoft.com/office/drawing/2014/main" id="{0FD4FB38-B303-465B-8989-DA775292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47975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7E9E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7E9EE"/>
                </a:solidFill>
                <a:latin typeface="Arial"/>
                <a:ea typeface="Arial"/>
                <a:cs typeface="Arial"/>
              </a:rPr>
              <a:t>One active timer: multiple tasks can currently run</a:t>
            </a:r>
          </a:p>
        </p:txBody>
      </p:sp>
      <p:sp>
        <p:nvSpPr>
          <p:cNvPr id="21" name="gap-b2-dot">
            <a:extLst xmlns:a="http://schemas.openxmlformats.org/drawingml/2006/main">
              <a:ext uri="{FF2B5EF4-FFF2-40B4-BE49-F238E27FC236}">
                <a16:creationId xmlns:a16="http://schemas.microsoft.com/office/drawing/2014/main" id="{86319E48-7F21-4B22-B796-0129AD52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52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2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ap-b2">
            <a:extLst xmlns:a="http://schemas.openxmlformats.org/drawingml/2006/main">
              <a:ext uri="{FF2B5EF4-FFF2-40B4-BE49-F238E27FC236}">
                <a16:creationId xmlns:a16="http://schemas.microsoft.com/office/drawing/2014/main" id="{290C6D6D-0AB8-4CE1-B406-315A6E2C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86150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7E9E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7E9EE"/>
                </a:solidFill>
                <a:latin typeface="Arial"/>
                <a:ea typeface="Arial"/>
                <a:cs typeface="Arial"/>
              </a:rPr>
              <a:t>Per-user data isolation: state is global to the app</a:t>
            </a:r>
          </a:p>
        </p:txBody>
      </p:sp>
      <p:sp>
        <p:nvSpPr>
          <p:cNvPr id="23" name="gap-b3-dot">
            <a:extLst xmlns:a="http://schemas.openxmlformats.org/drawingml/2006/main">
              <a:ext uri="{FF2B5EF4-FFF2-40B4-BE49-F238E27FC236}">
                <a16:creationId xmlns:a16="http://schemas.microsoft.com/office/drawing/2014/main" id="{422F2481-063A-4A5A-9F58-9D7159AA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91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ap-b3">
            <a:extLst xmlns:a="http://schemas.openxmlformats.org/drawingml/2006/main">
              <a:ext uri="{FF2B5EF4-FFF2-40B4-BE49-F238E27FC236}">
                <a16:creationId xmlns:a16="http://schemas.microsoft.com/office/drawing/2014/main" id="{D96EF7EA-08AC-42F8-9277-F3F22668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24325"/>
            <a:ext cx="4533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7E9E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7E9EE"/>
                </a:solidFill>
                <a:latin typeface="Arial"/>
                <a:ea typeface="Arial"/>
                <a:cs typeface="Arial"/>
              </a:rPr>
              <a:t>Urgency banner and daily muse are present in code, but not wired into the visible UI</a:t>
            </a:r>
          </a:p>
        </p:txBody>
      </p:sp>
      <p:sp>
        <p:nvSpPr>
          <p:cNvPr id="25" name="gap-b4-dot">
            <a:extLst xmlns:a="http://schemas.openxmlformats.org/drawingml/2006/main">
              <a:ext uri="{FF2B5EF4-FFF2-40B4-BE49-F238E27FC236}">
                <a16:creationId xmlns:a16="http://schemas.microsoft.com/office/drawing/2014/main" id="{823B01FD-DE7D-49B6-B790-45FFFE73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19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8B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ap-b4">
            <a:extLst xmlns:a="http://schemas.openxmlformats.org/drawingml/2006/main">
              <a:ext uri="{FF2B5EF4-FFF2-40B4-BE49-F238E27FC236}">
                <a16:creationId xmlns:a16="http://schemas.microsoft.com/office/drawing/2014/main" id="{B7C1BC13-7E9D-4EC7-9A4A-802C267B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953000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7E9E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7E9EE"/>
                </a:solidFill>
                <a:latin typeface="Arial"/>
                <a:ea typeface="Arial"/>
                <a:cs typeface="Arial"/>
              </a:rPr>
              <a:t>Automated tests for core state transitions</a:t>
            </a:r>
          </a:p>
        </p:txBody>
      </p:sp>
      <p:sp>
        <p:nvSpPr>
          <p:cNvPr id="27" name="truth-strip">
            <a:extLst xmlns:a="http://schemas.openxmlformats.org/drawingml/2006/main">
              <a:ext uri="{FF2B5EF4-FFF2-40B4-BE49-F238E27FC236}">
                <a16:creationId xmlns:a16="http://schemas.microsoft.com/office/drawing/2014/main" id="{776D0505-D164-4B82-AC45-5C80E05B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D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ruth-copy">
            <a:extLst xmlns:a="http://schemas.openxmlformats.org/drawingml/2006/main">
              <a:ext uri="{FF2B5EF4-FFF2-40B4-BE49-F238E27FC236}">
                <a16:creationId xmlns:a16="http://schemas.microsoft.com/office/drawing/2014/main" id="{CA13F6AE-1401-47C4-98D2-CFE79075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24525"/>
            <a:ext cx="1040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E080D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0E080D"/>
                </a:solidFill>
                <a:latin typeface="Georgia"/>
                <a:ea typeface="Georgia"/>
                <a:cs typeface="Georgia"/>
              </a:rPr>
              <a:t>The idea says “one at a time.” Today’s code encourages that behavior; it does not enforce it.</a:t>
            </a:r>
          </a:p>
        </p:txBody>
      </p:sp>
    </p:spTree>
    <p:extLst>
      <p:ext uri="{BB962C8B-B14F-4D97-AF65-F5344CB8AC3E}">
        <p14:creationId xmlns:p14="http://schemas.microsoft.com/office/powerpoint/2010/main" val="16050286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0D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accent-rule-7">
            <a:extLst xmlns:a="http://schemas.openxmlformats.org/drawingml/2006/main">
              <a:ext uri="{FF2B5EF4-FFF2-40B4-BE49-F238E27FC236}">
                <a16:creationId xmlns:a16="http://schemas.microsoft.com/office/drawing/2014/main" id="{8DBD92F3-3104-46F2-9F33-00D92793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D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gold-rule-7">
            <a:extLst xmlns:a="http://schemas.openxmlformats.org/drawingml/2006/main">
              <a:ext uri="{FF2B5EF4-FFF2-40B4-BE49-F238E27FC236}">
                <a16:creationId xmlns:a16="http://schemas.microsoft.com/office/drawing/2014/main" id="{DB1F27AF-90EB-4C0E-9697-1FE08F34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2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7">
            <a:extLst xmlns:a="http://schemas.openxmlformats.org/drawingml/2006/main">
              <a:ext uri="{FF2B5EF4-FFF2-40B4-BE49-F238E27FC236}">
                <a16:creationId xmlns:a16="http://schemas.microsoft.com/office/drawing/2014/main" id="{61345945-6954-41A7-9F7C-34350D0B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3B23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E3B23C"/>
                </a:solidFill>
                <a:latin typeface="Arial"/>
                <a:ea typeface="Arial"/>
                <a:cs typeface="Arial"/>
              </a:rPr>
              <a:t>THE NEXT PRODUCT PROMISE</a:t>
            </a:r>
          </a:p>
        </p:txBody>
      </p:sp>
      <p:sp>
        <p:nvSpPr>
          <p:cNvPr id="4" name="title-7">
            <a:extLst xmlns:a="http://schemas.openxmlformats.org/drawingml/2006/main">
              <a:ext uri="{FF2B5EF4-FFF2-40B4-BE49-F238E27FC236}">
                <a16:creationId xmlns:a16="http://schemas.microsoft.com/office/drawing/2014/main" id="{072B7AA7-E0E0-45B4-9219-F1CC2A6E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7E9EE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F7E9EE"/>
                </a:solidFill>
                <a:latin typeface="Georgia"/>
                <a:ea typeface="Georgia"/>
                <a:cs typeface="Georgia"/>
              </a:rPr>
              <a:t>Next, make focus a product rule.</a:t>
            </a:r>
          </a:p>
        </p:txBody>
      </p:sp>
      <p:sp>
        <p:nvSpPr>
          <p:cNvPr id="5" name="footer-product-7">
            <a:extLst xmlns:a="http://schemas.openxmlformats.org/drawingml/2006/main">
              <a:ext uri="{FF2B5EF4-FFF2-40B4-BE49-F238E27FC236}">
                <a16:creationId xmlns:a16="http://schemas.microsoft.com/office/drawing/2014/main" id="{A9F9D7FC-583F-4FB8-B6A8-90B0CEBA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B98BA0"/>
                </a:solidFill>
                <a:latin typeface="Georgia"/>
                <a:ea typeface="Georgia"/>
                <a:cs typeface="Georgia"/>
              </a:defRPr>
            </a:pPr>
            <a:r>
              <a:rPr sz="900" b="0" i="1">
                <a:solidFill>
                  <a:srgbClr val="B98BA0"/>
                </a:solidFill>
                <a:latin typeface="Georgia"/>
                <a:ea typeface="Georgia"/>
                <a:cs typeface="Georgia"/>
              </a:rPr>
              <a:t>one ball, always.</a:t>
            </a:r>
          </a:p>
        </p:txBody>
      </p:sp>
      <p:sp>
        <p:nvSpPr>
          <p:cNvPr id="6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1D6C8BD2-CE78-48D8-9ED3-13FB53EB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504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B98BA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B98BA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7" name="next-num-0">
            <a:extLst xmlns:a="http://schemas.openxmlformats.org/drawingml/2006/main">
              <a:ext uri="{FF2B5EF4-FFF2-40B4-BE49-F238E27FC236}">
                <a16:creationId xmlns:a16="http://schemas.microsoft.com/office/drawing/2014/main" id="{CE3FAEC8-0FDC-450F-84A8-184001AC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76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F5DA8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FF5DA8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8" name="next-rule-0">
            <a:extLst xmlns:a="http://schemas.openxmlformats.org/drawingml/2006/main">
              <a:ext uri="{FF2B5EF4-FFF2-40B4-BE49-F238E27FC236}">
                <a16:creationId xmlns:a16="http://schemas.microsoft.com/office/drawing/2014/main" id="{0E293D74-81BF-414A-AB2A-0D8B27D6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D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next-title-0">
            <a:extLst xmlns:a="http://schemas.openxmlformats.org/drawingml/2006/main">
              <a:ext uri="{FF2B5EF4-FFF2-40B4-BE49-F238E27FC236}">
                <a16:creationId xmlns:a16="http://schemas.microsoft.com/office/drawing/2014/main" id="{07950BFC-429D-4EA1-B723-943978C6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266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7E9EE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F7E9EE"/>
                </a:solidFill>
                <a:latin typeface="Georgia"/>
                <a:ea typeface="Georgia"/>
                <a:cs typeface="Georgia"/>
              </a:rPr>
              <a:t>One active timer</a:t>
            </a:r>
          </a:p>
        </p:txBody>
      </p:sp>
      <p:sp>
        <p:nvSpPr>
          <p:cNvPr id="10" name="next-copy-0">
            <a:extLst xmlns:a="http://schemas.openxmlformats.org/drawingml/2006/main">
              <a:ext uri="{FF2B5EF4-FFF2-40B4-BE49-F238E27FC236}">
                <a16:creationId xmlns:a16="http://schemas.microsoft.com/office/drawing/2014/main" id="{A63E41B5-F343-41CF-BD5D-6DAEF2B1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2266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B98BA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B98BA0"/>
                </a:solidFill>
                <a:latin typeface="Arial"/>
                <a:ea typeface="Arial"/>
                <a:cs typeface="Arial"/>
              </a:rPr>
              <a:t>Starting a task should pause or block every other timer.</a:t>
            </a:r>
          </a:p>
        </p:txBody>
      </p:sp>
      <p:sp>
        <p:nvSpPr>
          <p:cNvPr id="11" name="next-num-1">
            <a:extLst xmlns:a="http://schemas.openxmlformats.org/drawingml/2006/main">
              <a:ext uri="{FF2B5EF4-FFF2-40B4-BE49-F238E27FC236}">
                <a16:creationId xmlns:a16="http://schemas.microsoft.com/office/drawing/2014/main" id="{089C2660-4EC8-4E54-96B0-5418DC4E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95500"/>
            <a:ext cx="76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E3B23C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E3B23C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2" name="next-rule-1">
            <a:extLst xmlns:a="http://schemas.openxmlformats.org/drawingml/2006/main">
              <a:ext uri="{FF2B5EF4-FFF2-40B4-BE49-F238E27FC236}">
                <a16:creationId xmlns:a16="http://schemas.microsoft.com/office/drawing/2014/main" id="{927057C5-6252-4481-AA56-AB85BF0A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14625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2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next-title-1">
            <a:extLst xmlns:a="http://schemas.openxmlformats.org/drawingml/2006/main">
              <a:ext uri="{FF2B5EF4-FFF2-40B4-BE49-F238E27FC236}">
                <a16:creationId xmlns:a16="http://schemas.microsoft.com/office/drawing/2014/main" id="{5756F103-25E5-4120-8DDA-98A10D91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52750"/>
            <a:ext cx="2266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7E9EE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F7E9EE"/>
                </a:solidFill>
                <a:latin typeface="Georgia"/>
                <a:ea typeface="Georgia"/>
                <a:cs typeface="Georgia"/>
              </a:rPr>
              <a:t>Intentional switching</a:t>
            </a:r>
          </a:p>
        </p:txBody>
      </p:sp>
      <p:sp>
        <p:nvSpPr>
          <p:cNvPr id="14" name="next-copy-1">
            <a:extLst xmlns:a="http://schemas.openxmlformats.org/drawingml/2006/main">
              <a:ext uri="{FF2B5EF4-FFF2-40B4-BE49-F238E27FC236}">
                <a16:creationId xmlns:a16="http://schemas.microsoft.com/office/drawing/2014/main" id="{779B38B9-1619-4EC3-BD35-60C60AF4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76650"/>
            <a:ext cx="2266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B98BA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B98BA0"/>
                </a:solidFill>
                <a:latin typeface="Arial"/>
                <a:ea typeface="Arial"/>
                <a:cs typeface="Arial"/>
              </a:rPr>
              <a:t>A clear handoff flow should make changing focus a conscious choice.</a:t>
            </a:r>
          </a:p>
        </p:txBody>
      </p:sp>
      <p:sp>
        <p:nvSpPr>
          <p:cNvPr id="15" name="next-num-2">
            <a:extLst xmlns:a="http://schemas.openxmlformats.org/drawingml/2006/main">
              <a:ext uri="{FF2B5EF4-FFF2-40B4-BE49-F238E27FC236}">
                <a16:creationId xmlns:a16="http://schemas.microsoft.com/office/drawing/2014/main" id="{081310C3-2219-4CFD-A8DB-393E19EC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95500"/>
            <a:ext cx="76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C9A0E8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C9A0E8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6" name="next-rule-2">
            <a:extLst xmlns:a="http://schemas.openxmlformats.org/drawingml/2006/main">
              <a:ext uri="{FF2B5EF4-FFF2-40B4-BE49-F238E27FC236}">
                <a16:creationId xmlns:a16="http://schemas.microsoft.com/office/drawing/2014/main" id="{D7D2171C-B1FB-4E8A-B95F-A12AED3B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14625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next-title-2">
            <a:extLst xmlns:a="http://schemas.openxmlformats.org/drawingml/2006/main">
              <a:ext uri="{FF2B5EF4-FFF2-40B4-BE49-F238E27FC236}">
                <a16:creationId xmlns:a16="http://schemas.microsoft.com/office/drawing/2014/main" id="{65CA5DD7-F160-45F3-9B6E-E234043A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52750"/>
            <a:ext cx="2266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7E9EE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F7E9EE"/>
                </a:solidFill>
                <a:latin typeface="Georgia"/>
                <a:ea typeface="Georgia"/>
                <a:cs typeface="Georgia"/>
              </a:rPr>
              <a:t>Personal state</a:t>
            </a:r>
          </a:p>
        </p:txBody>
      </p:sp>
      <p:sp>
        <p:nvSpPr>
          <p:cNvPr id="18" name="next-copy-2">
            <a:extLst xmlns:a="http://schemas.openxmlformats.org/drawingml/2006/main">
              <a:ext uri="{FF2B5EF4-FFF2-40B4-BE49-F238E27FC236}">
                <a16:creationId xmlns:a16="http://schemas.microsoft.com/office/drawing/2014/main" id="{D18D74CB-E3D9-43EA-94B5-9A429BB2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76650"/>
            <a:ext cx="2266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B98BA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B98BA0"/>
                </a:solidFill>
                <a:latin typeface="Arial"/>
                <a:ea typeface="Arial"/>
                <a:cs typeface="Arial"/>
              </a:rPr>
              <a:t>Accounts should scope boards, logs, targets and frog choice to each person.</a:t>
            </a:r>
          </a:p>
        </p:txBody>
      </p:sp>
      <p:sp>
        <p:nvSpPr>
          <p:cNvPr id="19" name="next-num-3">
            <a:extLst xmlns:a="http://schemas.openxmlformats.org/drawingml/2006/main">
              <a:ext uri="{FF2B5EF4-FFF2-40B4-BE49-F238E27FC236}">
                <a16:creationId xmlns:a16="http://schemas.microsoft.com/office/drawing/2014/main" id="{3CC0A334-7FA7-436A-A847-CCE9F985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95500"/>
            <a:ext cx="76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46D9A6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46D9A6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0" name="next-rule-3">
            <a:extLst xmlns:a="http://schemas.openxmlformats.org/drawingml/2006/main">
              <a:ext uri="{FF2B5EF4-FFF2-40B4-BE49-F238E27FC236}">
                <a16:creationId xmlns:a16="http://schemas.microsoft.com/office/drawing/2014/main" id="{35B696FA-071F-4151-811D-944BCD66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14625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next-title-3">
            <a:extLst xmlns:a="http://schemas.openxmlformats.org/drawingml/2006/main">
              <a:ext uri="{FF2B5EF4-FFF2-40B4-BE49-F238E27FC236}">
                <a16:creationId xmlns:a16="http://schemas.microsoft.com/office/drawing/2014/main" id="{22CF49A4-C260-4296-B84B-7CAED9ED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952750"/>
            <a:ext cx="2266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7E9EE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F7E9EE"/>
                </a:solidFill>
                <a:latin typeface="Georgia"/>
                <a:ea typeface="Georgia"/>
                <a:cs typeface="Georgia"/>
              </a:rPr>
              <a:t>Test the loop</a:t>
            </a:r>
          </a:p>
        </p:txBody>
      </p:sp>
      <p:sp>
        <p:nvSpPr>
          <p:cNvPr id="22" name="next-copy-3">
            <a:extLst xmlns:a="http://schemas.openxmlformats.org/drawingml/2006/main">
              <a:ext uri="{FF2B5EF4-FFF2-40B4-BE49-F238E27FC236}">
                <a16:creationId xmlns:a16="http://schemas.microsoft.com/office/drawing/2014/main" id="{2C771EC4-F534-4706-BE25-159B937F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676650"/>
            <a:ext cx="2266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B98BA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B98BA0"/>
                </a:solidFill>
                <a:latin typeface="Arial"/>
                <a:ea typeface="Arial"/>
                <a:cs typeface="Arial"/>
              </a:rPr>
              <a:t>Protect start, switch, finish and persistence behavior with tests.</a:t>
            </a:r>
          </a:p>
        </p:txBody>
      </p:sp>
      <p:sp>
        <p:nvSpPr>
          <p:cNvPr id="23" name="close-quote">
            <a:extLst xmlns:a="http://schemas.openxmlformats.org/drawingml/2006/main">
              <a:ext uri="{FF2B5EF4-FFF2-40B4-BE49-F238E27FC236}">
                <a16:creationId xmlns:a16="http://schemas.microsoft.com/office/drawing/2014/main" id="{290609E4-6063-446D-A4E9-123BBAEE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 i="1">
                <a:solidFill>
                  <a:srgbClr val="F7E9EE"/>
                </a:solidFill>
                <a:latin typeface="Georgia"/>
                <a:ea typeface="Georgia"/>
                <a:cs typeface="Georgia"/>
              </a:defRPr>
            </a:pPr>
            <a:r>
              <a:rPr sz="2100" b="0" i="1">
                <a:solidFill>
                  <a:srgbClr val="F7E9EE"/>
                </a:solidFill>
                <a:latin typeface="Georgia"/>
                <a:ea typeface="Georgia"/>
                <a:cs typeface="Georgia"/>
              </a:rPr>
              <a:t>Pick less. Start sooner. Let momentum prove the task was smaller than the fear.</a:t>
            </a:r>
          </a:p>
        </p:txBody>
      </p:sp>
      <p:sp>
        <p:nvSpPr>
          <p:cNvPr id="24" name="close-link">
            <a:extLst xmlns:a="http://schemas.openxmlformats.org/drawingml/2006/main">
              <a:ext uri="{FF2B5EF4-FFF2-40B4-BE49-F238E27FC236}">
                <a16:creationId xmlns:a16="http://schemas.microsoft.com/office/drawing/2014/main" id="{E24FB37B-9C61-46C7-B753-7ACC293B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791200"/>
            <a:ext cx="6438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E3B23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E3B23C"/>
                </a:solidFill>
                <a:latin typeface="Arial"/>
                <a:ea typeface="Arial"/>
                <a:cs typeface="Arial"/>
              </a:rPr>
              <a:t>github.com/Moningi-Srija/one-ball-at-a-time</a:t>
            </a:r>
          </a:p>
        </p:txBody>
      </p:sp>
    </p:spTree>
    <p:extLst>
      <p:ext uri="{BB962C8B-B14F-4D97-AF65-F5344CB8AC3E}">
        <p14:creationId xmlns:p14="http://schemas.microsoft.com/office/powerpoint/2010/main" val="15176327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2026-07-21T19:03:17.5240000Z</dcterms:created>
  <dcterms:modified xsi:type="dcterms:W3CDTF">2026-07-21T19:03:17.5240000Z</dcterms:modified>
</coreProperties>
</file>